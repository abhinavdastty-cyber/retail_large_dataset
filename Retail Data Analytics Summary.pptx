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93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F4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4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4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4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0924" y="1050510"/>
            <a:ext cx="9883775" cy="630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F4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7815" y="4243578"/>
            <a:ext cx="16231235" cy="481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5925AF-F0AC-E0EC-F2BA-A7C0FFEC9144}"/>
              </a:ext>
            </a:extLst>
          </p:cNvPr>
          <p:cNvSpPr txBox="1"/>
          <p:nvPr/>
        </p:nvSpPr>
        <p:spPr>
          <a:xfrm>
            <a:off x="15690850" y="10074275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NextHikes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IT Solutions</a:t>
            </a:r>
            <a:endParaRPr lang="en-IN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741" y="5701571"/>
            <a:ext cx="235963" cy="299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9424" y="5717321"/>
            <a:ext cx="298886" cy="251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2837" y="5717321"/>
            <a:ext cx="330348" cy="251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47716" y="5701571"/>
            <a:ext cx="314617" cy="267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2640" y="700073"/>
            <a:ext cx="132969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120" dirty="0">
                <a:solidFill>
                  <a:srgbClr val="6462E4"/>
                </a:solidFill>
                <a:latin typeface="Arial"/>
                <a:cs typeface="Arial"/>
              </a:rPr>
              <a:t>OVERVIEW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5" dirty="0">
                <a:solidFill>
                  <a:srgbClr val="0F1626"/>
                </a:solidFill>
              </a:rPr>
              <a:t>Executive</a:t>
            </a:r>
            <a:r>
              <a:rPr spc="85" dirty="0">
                <a:solidFill>
                  <a:srgbClr val="0F1626"/>
                </a:solidFill>
              </a:rPr>
              <a:t> </a:t>
            </a:r>
            <a:r>
              <a:rPr spc="-10" dirty="0">
                <a:solidFill>
                  <a:srgbClr val="0F1626"/>
                </a:solidFill>
              </a:rPr>
              <a:t>Agenda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5255" y="1790757"/>
            <a:ext cx="605472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Core</a:t>
            </a:r>
            <a:r>
              <a:rPr sz="2300" spc="19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pillars</a:t>
            </a:r>
            <a:r>
              <a:rPr sz="2300" spc="25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evaluated</a:t>
            </a:r>
            <a:r>
              <a:rPr sz="2300" spc="15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085"/>
                </a:solidFill>
                <a:latin typeface="Arial"/>
                <a:cs typeface="Arial"/>
              </a:rPr>
              <a:t>in</a:t>
            </a:r>
            <a:r>
              <a:rPr sz="2300" spc="1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this</a:t>
            </a:r>
            <a:r>
              <a:rPr sz="2300" spc="17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dataset</a:t>
            </a:r>
            <a:r>
              <a:rPr sz="2300" spc="21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647085"/>
                </a:solidFill>
                <a:latin typeface="Arial"/>
                <a:cs typeface="Arial"/>
              </a:rPr>
              <a:t>analysis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5551" y="6401557"/>
            <a:ext cx="3132455" cy="1229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5"/>
              </a:spcBef>
            </a:pPr>
            <a:r>
              <a:rPr sz="2350" b="1" spc="85" dirty="0">
                <a:solidFill>
                  <a:srgbClr val="0F1626"/>
                </a:solidFill>
                <a:latin typeface="Arial"/>
                <a:cs typeface="Arial"/>
              </a:rPr>
              <a:t>Summary </a:t>
            </a:r>
            <a:r>
              <a:rPr sz="2350" b="1" spc="75" dirty="0">
                <a:solidFill>
                  <a:srgbClr val="0F1626"/>
                </a:solidFill>
                <a:latin typeface="Arial"/>
                <a:cs typeface="Arial"/>
              </a:rPr>
              <a:t>Stats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1950" dirty="0">
                <a:solidFill>
                  <a:srgbClr val="505762"/>
                </a:solidFill>
                <a:latin typeface="Arial"/>
                <a:cs typeface="Arial"/>
              </a:rPr>
              <a:t>Central</a:t>
            </a:r>
            <a:r>
              <a:rPr sz="1950" spc="27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505762"/>
                </a:solidFill>
                <a:latin typeface="Arial"/>
                <a:cs typeface="Arial"/>
              </a:rPr>
              <a:t>tendency</a:t>
            </a:r>
            <a:r>
              <a:rPr sz="1950" spc="36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05762"/>
                </a:solidFill>
                <a:latin typeface="Arial"/>
                <a:cs typeface="Arial"/>
              </a:rPr>
              <a:t>&amp;</a:t>
            </a:r>
            <a:endParaRPr sz="18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330"/>
              </a:spcBef>
            </a:pPr>
            <a:r>
              <a:rPr sz="1950" spc="65" dirty="0">
                <a:solidFill>
                  <a:srgbClr val="505762"/>
                </a:solidFill>
                <a:latin typeface="Arial"/>
                <a:cs typeface="Arial"/>
              </a:rPr>
              <a:t>dispersion</a:t>
            </a:r>
            <a:r>
              <a:rPr sz="1950" spc="8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505762"/>
                </a:solidFill>
                <a:latin typeface="Arial"/>
                <a:cs typeface="Arial"/>
              </a:rPr>
              <a:t>across</a:t>
            </a:r>
            <a:r>
              <a:rPr sz="1950" spc="100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40" dirty="0">
                <a:solidFill>
                  <a:srgbClr val="505762"/>
                </a:solidFill>
                <a:latin typeface="Arial"/>
                <a:cs typeface="Arial"/>
              </a:rPr>
              <a:t>metrics.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1738" y="6401557"/>
            <a:ext cx="2701290" cy="1237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5"/>
              </a:spcBef>
            </a:pPr>
            <a:r>
              <a:rPr sz="2350" b="1" dirty="0">
                <a:solidFill>
                  <a:srgbClr val="0F1626"/>
                </a:solidFill>
                <a:latin typeface="Arial"/>
                <a:cs typeface="Arial"/>
              </a:rPr>
              <a:t>Outliers</a:t>
            </a:r>
            <a:r>
              <a:rPr sz="2350" b="1" spc="17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250" b="1" spc="160" dirty="0">
                <a:solidFill>
                  <a:srgbClr val="0F1626"/>
                </a:solidFill>
                <a:latin typeface="Arial"/>
                <a:cs typeface="Arial"/>
              </a:rPr>
              <a:t>&amp;</a:t>
            </a:r>
            <a:r>
              <a:rPr sz="2250" b="1" spc="-8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-20" dirty="0">
                <a:solidFill>
                  <a:srgbClr val="0F1626"/>
                </a:solidFill>
                <a:latin typeface="Arial"/>
                <a:cs typeface="Arial"/>
              </a:rPr>
              <a:t>Risk</a:t>
            </a:r>
            <a:endParaRPr sz="2350">
              <a:latin typeface="Arial"/>
              <a:cs typeface="Arial"/>
            </a:endParaRPr>
          </a:p>
          <a:p>
            <a:pPr marL="24765" marR="5080" indent="-12700">
              <a:lnSpc>
                <a:spcPct val="119200"/>
              </a:lnSpc>
              <a:spcBef>
                <a:spcPts val="1100"/>
              </a:spcBef>
            </a:pPr>
            <a:r>
              <a:rPr sz="1950" spc="-10" dirty="0">
                <a:solidFill>
                  <a:srgbClr val="3B527C"/>
                </a:solidFill>
                <a:latin typeface="Arial"/>
                <a:cs typeface="Arial"/>
              </a:rPr>
              <a:t>IQR</a:t>
            </a:r>
            <a:r>
              <a:rPr sz="1950" spc="5" dirty="0">
                <a:solidFill>
                  <a:srgbClr val="3B527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05762"/>
                </a:solidFill>
                <a:latin typeface="Arial"/>
                <a:cs typeface="Arial"/>
              </a:rPr>
              <a:t>&amp;</a:t>
            </a:r>
            <a:r>
              <a:rPr sz="1800" spc="170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505762"/>
                </a:solidFill>
                <a:latin typeface="Arial"/>
                <a:cs typeface="Arial"/>
              </a:rPr>
              <a:t>Z-</a:t>
            </a:r>
            <a:r>
              <a:rPr sz="1950" spc="60" dirty="0">
                <a:solidFill>
                  <a:srgbClr val="505762"/>
                </a:solidFill>
                <a:latin typeface="Arial"/>
                <a:cs typeface="Arial"/>
              </a:rPr>
              <a:t>score</a:t>
            </a:r>
            <a:r>
              <a:rPr sz="1950" spc="1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505762"/>
                </a:solidFill>
                <a:latin typeface="Arial"/>
                <a:cs typeface="Arial"/>
              </a:rPr>
              <a:t>extreme </a:t>
            </a:r>
            <a:r>
              <a:rPr sz="1950" dirty="0">
                <a:solidFill>
                  <a:srgbClr val="505762"/>
                </a:solidFill>
                <a:latin typeface="Arial"/>
                <a:cs typeface="Arial"/>
              </a:rPr>
              <a:t>values</a:t>
            </a:r>
            <a:r>
              <a:rPr sz="1950" spc="290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505762"/>
                </a:solidFill>
                <a:latin typeface="Arial"/>
                <a:cs typeface="Arial"/>
              </a:rPr>
              <a:t>check.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2192" y="6409432"/>
            <a:ext cx="2952115" cy="1229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b="1" spc="40" dirty="0">
                <a:solidFill>
                  <a:srgbClr val="0F1626"/>
                </a:solidFill>
                <a:latin typeface="Arial"/>
                <a:cs typeface="Arial"/>
              </a:rPr>
              <a:t>Correlations</a:t>
            </a:r>
            <a:endParaRPr sz="2350">
              <a:latin typeface="Arial"/>
              <a:cs typeface="Arial"/>
            </a:endParaRPr>
          </a:p>
          <a:p>
            <a:pPr marL="18415" marR="5080" indent="-3175">
              <a:lnSpc>
                <a:spcPct val="116599"/>
              </a:lnSpc>
              <a:spcBef>
                <a:spcPts val="1160"/>
              </a:spcBef>
            </a:pPr>
            <a:r>
              <a:rPr sz="1950" dirty="0">
                <a:solidFill>
                  <a:srgbClr val="505762"/>
                </a:solidFill>
                <a:latin typeface="Arial"/>
                <a:cs typeface="Arial"/>
              </a:rPr>
              <a:t>Pearson</a:t>
            </a:r>
            <a:r>
              <a:rPr sz="1950" spc="14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505762"/>
                </a:solidFill>
                <a:latin typeface="Arial"/>
                <a:cs typeface="Arial"/>
              </a:rPr>
              <a:t>matrix</a:t>
            </a:r>
            <a:r>
              <a:rPr sz="1950" spc="35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05762"/>
                </a:solidFill>
                <a:latin typeface="Arial"/>
                <a:cs typeface="Arial"/>
              </a:rPr>
              <a:t>&amp;</a:t>
            </a:r>
            <a:r>
              <a:rPr sz="1800" spc="19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505762"/>
                </a:solidFill>
                <a:latin typeface="Arial"/>
                <a:cs typeface="Arial"/>
              </a:rPr>
              <a:t>feature </a:t>
            </a:r>
            <a:r>
              <a:rPr sz="1950" spc="60" dirty="0">
                <a:solidFill>
                  <a:srgbClr val="505762"/>
                </a:solidFill>
                <a:latin typeface="Arial"/>
                <a:cs typeface="Arial"/>
              </a:rPr>
              <a:t>redundancy</a:t>
            </a:r>
            <a:r>
              <a:rPr sz="1950" spc="204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505762"/>
                </a:solidFill>
                <a:latin typeface="Arial"/>
                <a:cs typeface="Arial"/>
              </a:rPr>
              <a:t>test.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71936" y="6401557"/>
            <a:ext cx="3211830" cy="1229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b="1" spc="70" dirty="0">
                <a:solidFill>
                  <a:srgbClr val="0F1626"/>
                </a:solidFill>
                <a:latin typeface="Arial"/>
                <a:cs typeface="Arial"/>
              </a:rPr>
              <a:t>Multivariate</a:t>
            </a:r>
            <a:endParaRPr sz="23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610"/>
              </a:spcBef>
            </a:pPr>
            <a:r>
              <a:rPr sz="1950" spc="90" dirty="0">
                <a:solidFill>
                  <a:srgbClr val="505762"/>
                </a:solidFill>
                <a:latin typeface="Arial"/>
                <a:cs typeface="Arial"/>
              </a:rPr>
              <a:t>Cross-</a:t>
            </a:r>
            <a:r>
              <a:rPr sz="1950" spc="80" dirty="0">
                <a:solidFill>
                  <a:srgbClr val="505762"/>
                </a:solidFill>
                <a:latin typeface="Arial"/>
                <a:cs typeface="Arial"/>
              </a:rPr>
              <a:t>variable</a:t>
            </a:r>
            <a:r>
              <a:rPr sz="1950" spc="-114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505762"/>
                </a:solidFill>
                <a:latin typeface="Arial"/>
                <a:cs typeface="Arial"/>
              </a:rPr>
              <a:t>interactions</a:t>
            </a:r>
            <a:endParaRPr sz="19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330"/>
              </a:spcBef>
            </a:pPr>
            <a:r>
              <a:rPr sz="1800" spc="60" dirty="0">
                <a:solidFill>
                  <a:srgbClr val="505762"/>
                </a:solidFill>
                <a:latin typeface="Arial"/>
                <a:cs typeface="Arial"/>
              </a:rPr>
              <a:t>&amp;</a:t>
            </a:r>
            <a:r>
              <a:rPr sz="1800" spc="21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505762"/>
                </a:solidFill>
                <a:latin typeface="Arial"/>
                <a:cs typeface="Arial"/>
              </a:rPr>
              <a:t>revenue</a:t>
            </a:r>
            <a:r>
              <a:rPr sz="1950" spc="235" dirty="0">
                <a:solidFill>
                  <a:srgbClr val="505762"/>
                </a:solidFill>
                <a:latin typeface="Arial"/>
                <a:cs typeface="Arial"/>
              </a:rPr>
              <a:t> </a:t>
            </a:r>
            <a:r>
              <a:rPr sz="1950" spc="40" dirty="0">
                <a:solidFill>
                  <a:srgbClr val="505762"/>
                </a:solidFill>
                <a:latin typeface="Arial"/>
                <a:cs typeface="Arial"/>
              </a:rPr>
              <a:t>trends.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864" y="696136"/>
            <a:ext cx="248729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55" dirty="0">
                <a:solidFill>
                  <a:srgbClr val="6462E4"/>
                </a:solidFill>
                <a:latin typeface="Arial"/>
                <a:cs typeface="Arial"/>
              </a:rPr>
              <a:t>DATA</a:t>
            </a:r>
            <a:r>
              <a:rPr sz="1700" b="1" spc="140" dirty="0">
                <a:solidFill>
                  <a:srgbClr val="6462E4"/>
                </a:solidFill>
                <a:latin typeface="Arial"/>
                <a:cs typeface="Arial"/>
              </a:rPr>
              <a:t> </a:t>
            </a:r>
            <a:r>
              <a:rPr sz="1700" b="1" spc="125" dirty="0">
                <a:solidFill>
                  <a:srgbClr val="6462E4"/>
                </a:solidFill>
                <a:latin typeface="Arial"/>
                <a:cs typeface="Arial"/>
              </a:rPr>
              <a:t>DISTRIBUTION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0"/>
              </a:spcBef>
            </a:pPr>
            <a:r>
              <a:rPr sz="4000" spc="60" dirty="0">
                <a:solidFill>
                  <a:srgbClr val="0E1626"/>
                </a:solidFill>
              </a:rPr>
              <a:t>Numerical</a:t>
            </a:r>
            <a:r>
              <a:rPr sz="4000" spc="20" dirty="0">
                <a:solidFill>
                  <a:srgbClr val="0E1626"/>
                </a:solidFill>
              </a:rPr>
              <a:t> </a:t>
            </a:r>
            <a:r>
              <a:rPr sz="4000" spc="70" dirty="0">
                <a:solidFill>
                  <a:srgbClr val="0E1626"/>
                </a:solidFill>
              </a:rPr>
              <a:t>Summary</a:t>
            </a:r>
            <a:r>
              <a:rPr sz="4000" spc="-50" dirty="0">
                <a:solidFill>
                  <a:srgbClr val="0E1626"/>
                </a:solidFill>
              </a:rPr>
              <a:t> </a:t>
            </a:r>
            <a:r>
              <a:rPr sz="4000" spc="-10" dirty="0">
                <a:solidFill>
                  <a:srgbClr val="0E1626"/>
                </a:solidFill>
              </a:rPr>
              <a:t>Statistics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88561" y="1790757"/>
            <a:ext cx="628713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082"/>
                </a:solidFill>
                <a:latin typeface="Arial"/>
                <a:cs typeface="Arial"/>
              </a:rPr>
              <a:t>Key</a:t>
            </a:r>
            <a:r>
              <a:rPr sz="2300" spc="125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082"/>
                </a:solidFill>
                <a:latin typeface="Arial"/>
                <a:cs typeface="Arial"/>
              </a:rPr>
              <a:t>metrics</a:t>
            </a:r>
            <a:r>
              <a:rPr sz="2300" spc="210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2"/>
                </a:solidFill>
                <a:latin typeface="Arial"/>
                <a:cs typeface="Arial"/>
              </a:rPr>
              <a:t>across</a:t>
            </a:r>
            <a:r>
              <a:rPr sz="2300" spc="275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2"/>
                </a:solidFill>
                <a:latin typeface="Arial"/>
                <a:cs typeface="Arial"/>
              </a:rPr>
              <a:t>numerical</a:t>
            </a:r>
            <a:r>
              <a:rPr sz="2300" spc="195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2"/>
                </a:solidFill>
                <a:latin typeface="Arial"/>
                <a:cs typeface="Arial"/>
              </a:rPr>
              <a:t>dataset</a:t>
            </a:r>
            <a:r>
              <a:rPr sz="2300" spc="225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647082"/>
                </a:solidFill>
                <a:latin typeface="Arial"/>
                <a:cs typeface="Arial"/>
              </a:rPr>
              <a:t>features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41021" y="4243578"/>
            <a:ext cx="629285" cy="332740"/>
          </a:xfrm>
          <a:custGeom>
            <a:avLst/>
            <a:gdLst/>
            <a:ahLst/>
            <a:cxnLst/>
            <a:rect l="l" t="t" r="r" b="b"/>
            <a:pathLst>
              <a:path w="629285" h="332739">
                <a:moveTo>
                  <a:pt x="629234" y="332700"/>
                </a:moveTo>
                <a:lnTo>
                  <a:pt x="0" y="332700"/>
                </a:lnTo>
                <a:lnTo>
                  <a:pt x="0" y="0"/>
                </a:lnTo>
                <a:lnTo>
                  <a:pt x="629234" y="0"/>
                </a:lnTo>
                <a:lnTo>
                  <a:pt x="629234" y="332700"/>
                </a:lnTo>
                <a:close/>
              </a:path>
            </a:pathLst>
          </a:custGeom>
          <a:solidFill>
            <a:srgbClr val="4F4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86061" y="4235704"/>
            <a:ext cx="833755" cy="332740"/>
          </a:xfrm>
          <a:custGeom>
            <a:avLst/>
            <a:gdLst/>
            <a:ahLst/>
            <a:cxnLst/>
            <a:rect l="l" t="t" r="r" b="b"/>
            <a:pathLst>
              <a:path w="833754" h="332739">
                <a:moveTo>
                  <a:pt x="833735" y="332700"/>
                </a:moveTo>
                <a:lnTo>
                  <a:pt x="0" y="332700"/>
                </a:lnTo>
                <a:lnTo>
                  <a:pt x="0" y="0"/>
                </a:lnTo>
                <a:lnTo>
                  <a:pt x="833735" y="0"/>
                </a:lnTo>
                <a:lnTo>
                  <a:pt x="833735" y="332700"/>
                </a:lnTo>
                <a:close/>
              </a:path>
            </a:pathLst>
          </a:custGeom>
          <a:solidFill>
            <a:srgbClr val="4F4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68652" y="4243578"/>
            <a:ext cx="872490" cy="332740"/>
          </a:xfrm>
          <a:custGeom>
            <a:avLst/>
            <a:gdLst/>
            <a:ahLst/>
            <a:cxnLst/>
            <a:rect l="l" t="t" r="r" b="b"/>
            <a:pathLst>
              <a:path w="872490" h="332739">
                <a:moveTo>
                  <a:pt x="872111" y="332700"/>
                </a:moveTo>
                <a:lnTo>
                  <a:pt x="0" y="332700"/>
                </a:lnTo>
                <a:lnTo>
                  <a:pt x="0" y="0"/>
                </a:lnTo>
                <a:lnTo>
                  <a:pt x="872111" y="0"/>
                </a:lnTo>
                <a:lnTo>
                  <a:pt x="872111" y="332700"/>
                </a:lnTo>
                <a:close/>
              </a:path>
            </a:pathLst>
          </a:custGeom>
          <a:solidFill>
            <a:srgbClr val="4F4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921074" y="4243578"/>
            <a:ext cx="401320" cy="332740"/>
          </a:xfrm>
          <a:custGeom>
            <a:avLst/>
            <a:gdLst/>
            <a:ahLst/>
            <a:cxnLst/>
            <a:rect l="l" t="t" r="r" b="b"/>
            <a:pathLst>
              <a:path w="401319" h="332739">
                <a:moveTo>
                  <a:pt x="401136" y="332700"/>
                </a:moveTo>
                <a:lnTo>
                  <a:pt x="0" y="332700"/>
                </a:lnTo>
                <a:lnTo>
                  <a:pt x="0" y="0"/>
                </a:lnTo>
                <a:lnTo>
                  <a:pt x="401136" y="0"/>
                </a:lnTo>
                <a:lnTo>
                  <a:pt x="401136" y="332700"/>
                </a:lnTo>
                <a:close/>
              </a:path>
            </a:pathLst>
          </a:custGeom>
          <a:solidFill>
            <a:srgbClr val="4F4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312156" y="4243578"/>
            <a:ext cx="472440" cy="332740"/>
          </a:xfrm>
          <a:custGeom>
            <a:avLst/>
            <a:gdLst/>
            <a:ahLst/>
            <a:cxnLst/>
            <a:rect l="l" t="t" r="r" b="b"/>
            <a:pathLst>
              <a:path w="472440" h="332739">
                <a:moveTo>
                  <a:pt x="471925" y="332700"/>
                </a:moveTo>
                <a:lnTo>
                  <a:pt x="0" y="332700"/>
                </a:lnTo>
                <a:lnTo>
                  <a:pt x="0" y="0"/>
                </a:lnTo>
                <a:lnTo>
                  <a:pt x="471925" y="0"/>
                </a:lnTo>
                <a:lnTo>
                  <a:pt x="471925" y="332700"/>
                </a:lnTo>
                <a:close/>
              </a:path>
            </a:pathLst>
          </a:custGeom>
          <a:solidFill>
            <a:srgbClr val="4F44D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335915" y="4243578"/>
          <a:ext cx="16240760" cy="4811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7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3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2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50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r>
                        <a:rPr sz="1800" b="1" spc="75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solidFill>
                      <a:srgbClr val="4F44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120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Mean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75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Median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Std</a:t>
                      </a:r>
                      <a:r>
                        <a:rPr sz="1800" b="1" spc="-25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65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Dev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70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85" dirty="0">
                          <a:solidFill>
                            <a:srgbClr val="F6F9F9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96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marR="3175">
                        <a:lnSpc>
                          <a:spcPct val="100000"/>
                        </a:lnSpc>
                      </a:pPr>
                      <a:r>
                        <a:rPr sz="1800" b="1" spc="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891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5904"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41.2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2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41.0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13.5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18.0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ct val="100000"/>
                        </a:lnSpc>
                      </a:pPr>
                      <a:r>
                        <a:rPr sz="1800" spc="6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65.0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2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b="1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r>
                        <a:rPr sz="1800" b="1" spc="34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5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 gridSpan="2">
                  <a:txBody>
                    <a:bodyPr/>
                    <a:lstStyle/>
                    <a:p>
                      <a:pPr marL="736600" algn="ctr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10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$248.50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-1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$210.00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5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$142.30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-1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$12.00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8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$999.00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r>
                        <a:rPr sz="1800" b="1" spc="4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Quantity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6060" marB="0"/>
                </a:tc>
                <a:tc gridSpan="2">
                  <a:txBody>
                    <a:bodyPr/>
                    <a:lstStyle/>
                    <a:p>
                      <a:pPr marL="136525" algn="ctr">
                        <a:lnSpc>
                          <a:spcPct val="100000"/>
                        </a:lnSpc>
                        <a:spcBef>
                          <a:spcPts val="1839"/>
                        </a:spcBef>
                      </a:pPr>
                      <a:r>
                        <a:rPr sz="1800" spc="-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2.4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1839"/>
                        </a:spcBef>
                      </a:pPr>
                      <a:r>
                        <a:rPr sz="1800" spc="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39"/>
                        </a:spcBef>
                      </a:pPr>
                      <a:r>
                        <a:rPr sz="1800" spc="-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1.2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39"/>
                        </a:spcBef>
                      </a:pPr>
                      <a:r>
                        <a:rPr sz="1800" spc="-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839"/>
                        </a:spcBef>
                      </a:pPr>
                      <a:r>
                        <a:rPr sz="1800" spc="3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800" b="1" spc="9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Discount%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2410" marB="0"/>
                </a:tc>
                <a:tc gridSpan="2">
                  <a:txBody>
                    <a:bodyPr/>
                    <a:lstStyle/>
                    <a:p>
                      <a:pPr marL="436245" algn="ctr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-1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12.5%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415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-1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10.0%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4154" marB="0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5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8.2%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4154" marB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5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0.0%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4154" marB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6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30.0%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415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b="1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800" b="1" spc="9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5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 gridSpan="2">
                  <a:txBody>
                    <a:bodyPr/>
                    <a:lstStyle/>
                    <a:p>
                      <a:pPr marL="662305" algn="ctr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-1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$520.10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5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$415.00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10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$328.40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10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$9.60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800" spc="9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$4,245.00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98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R="3175">
                        <a:lnSpc>
                          <a:spcPts val="2145"/>
                        </a:lnSpc>
                        <a:spcBef>
                          <a:spcPts val="1780"/>
                        </a:spcBef>
                      </a:pPr>
                      <a:r>
                        <a:rPr sz="1800" b="1" spc="5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Delivery</a:t>
                      </a:r>
                      <a:r>
                        <a:rPr sz="1800" b="1" spc="3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8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Days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6060" marB="0"/>
                </a:tc>
                <a:tc gridSpan="2">
                  <a:txBody>
                    <a:bodyPr/>
                    <a:lstStyle/>
                    <a:p>
                      <a:pPr marL="153035" algn="ctr">
                        <a:lnSpc>
                          <a:spcPts val="2080"/>
                        </a:lnSpc>
                        <a:spcBef>
                          <a:spcPts val="1839"/>
                        </a:spcBef>
                      </a:pPr>
                      <a:r>
                        <a:rPr sz="1800" spc="3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4.8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2080"/>
                        </a:lnSpc>
                        <a:spcBef>
                          <a:spcPts val="1839"/>
                        </a:spcBef>
                      </a:pPr>
                      <a:r>
                        <a:rPr sz="1800" spc="3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2080"/>
                        </a:lnSpc>
                        <a:spcBef>
                          <a:spcPts val="1839"/>
                        </a:spcBef>
                      </a:pPr>
                      <a:r>
                        <a:rPr sz="1800" spc="-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2.1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080"/>
                        </a:lnSpc>
                        <a:spcBef>
                          <a:spcPts val="1839"/>
                        </a:spcBef>
                      </a:pPr>
                      <a:r>
                        <a:rPr sz="1800" spc="-25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080"/>
                        </a:lnSpc>
                        <a:spcBef>
                          <a:spcPts val="1839"/>
                        </a:spcBef>
                      </a:pPr>
                      <a:r>
                        <a:rPr sz="1800" spc="-20" dirty="0">
                          <a:solidFill>
                            <a:srgbClr val="3D4452"/>
                          </a:solidFill>
                          <a:latin typeface="Arial"/>
                          <a:cs typeface="Arial"/>
                        </a:rPr>
                        <a:t>14.0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3679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1590" y="696136"/>
            <a:ext cx="317881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105" dirty="0">
                <a:solidFill>
                  <a:srgbClr val="6462E2"/>
                </a:solidFill>
                <a:latin typeface="Arial"/>
                <a:cs typeface="Arial"/>
              </a:rPr>
              <a:t>CATEGORICAL</a:t>
            </a:r>
            <a:r>
              <a:rPr sz="1700" b="1" spc="409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20" dirty="0">
                <a:solidFill>
                  <a:srgbClr val="6462E2"/>
                </a:solidFill>
                <a:latin typeface="Arial"/>
                <a:cs typeface="Arial"/>
              </a:rPr>
              <a:t>OVERVIEW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pc="70" dirty="0">
                <a:solidFill>
                  <a:srgbClr val="0E1526"/>
                </a:solidFill>
              </a:rPr>
              <a:t>Categorical</a:t>
            </a:r>
            <a:r>
              <a:rPr spc="130" dirty="0">
                <a:solidFill>
                  <a:srgbClr val="0E1526"/>
                </a:solidFill>
              </a:rPr>
              <a:t> </a:t>
            </a:r>
            <a:r>
              <a:rPr dirty="0">
                <a:solidFill>
                  <a:srgbClr val="0E1526"/>
                </a:solidFill>
              </a:rPr>
              <a:t>Feature</a:t>
            </a:r>
            <a:r>
              <a:rPr spc="45" dirty="0">
                <a:solidFill>
                  <a:srgbClr val="0E1526"/>
                </a:solidFill>
              </a:rPr>
              <a:t> </a:t>
            </a:r>
            <a:r>
              <a:rPr spc="-10" dirty="0">
                <a:solidFill>
                  <a:srgbClr val="0E1526"/>
                </a:solidFill>
              </a:rPr>
              <a:t>Breakdown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7398" y="1790757"/>
            <a:ext cx="765048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Proportional</a:t>
            </a:r>
            <a:r>
              <a:rPr sz="2300" spc="330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distribution</a:t>
            </a:r>
            <a:r>
              <a:rPr sz="2300" spc="42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across</a:t>
            </a:r>
            <a:r>
              <a:rPr sz="2300" spc="44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647083"/>
                </a:solidFill>
                <a:latin typeface="Arial"/>
                <a:cs typeface="Arial"/>
              </a:rPr>
              <a:t>key</a:t>
            </a:r>
            <a:r>
              <a:rPr sz="2300" spc="210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categorical</a:t>
            </a:r>
            <a:r>
              <a:rPr sz="2300" spc="40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647083"/>
                </a:solidFill>
                <a:latin typeface="Arial"/>
                <a:cs typeface="Arial"/>
              </a:rPr>
              <a:t>variables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3608" y="5594371"/>
            <a:ext cx="3081655" cy="1965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50" dirty="0">
                <a:solidFill>
                  <a:srgbClr val="0E1526"/>
                </a:solidFill>
                <a:latin typeface="Arial"/>
                <a:cs typeface="Arial"/>
              </a:rPr>
              <a:t>Product</a:t>
            </a:r>
            <a:r>
              <a:rPr sz="2400" b="1" spc="10" dirty="0">
                <a:solidFill>
                  <a:srgbClr val="0E1526"/>
                </a:solidFill>
                <a:latin typeface="Arial"/>
                <a:cs typeface="Arial"/>
              </a:rPr>
              <a:t> </a:t>
            </a:r>
            <a:r>
              <a:rPr sz="2400" b="1" spc="75" dirty="0">
                <a:solidFill>
                  <a:srgbClr val="0E1526"/>
                </a:solidFill>
                <a:latin typeface="Arial"/>
                <a:cs typeface="Arial"/>
              </a:rPr>
              <a:t>Category</a:t>
            </a:r>
            <a:endParaRPr sz="2400">
              <a:latin typeface="Arial"/>
              <a:cs typeface="Arial"/>
            </a:endParaRPr>
          </a:p>
          <a:p>
            <a:pPr marL="17780" marR="5080" indent="-3175">
              <a:lnSpc>
                <a:spcPct val="120100"/>
              </a:lnSpc>
              <a:spcBef>
                <a:spcPts val="1130"/>
              </a:spcBef>
            </a:pP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Electronics</a:t>
            </a:r>
            <a:r>
              <a:rPr sz="1950" spc="22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764"/>
                </a:solidFill>
                <a:latin typeface="Arial"/>
                <a:cs typeface="Arial"/>
              </a:rPr>
              <a:t>leads</a:t>
            </a:r>
            <a:r>
              <a:rPr sz="1950" spc="3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764"/>
                </a:solidFill>
                <a:latin typeface="Arial"/>
                <a:cs typeface="Arial"/>
              </a:rPr>
              <a:t>total </a:t>
            </a:r>
            <a:r>
              <a:rPr sz="1950" spc="65" dirty="0">
                <a:solidFill>
                  <a:srgbClr val="4F5764"/>
                </a:solidFill>
                <a:latin typeface="Arial"/>
                <a:cs typeface="Arial"/>
              </a:rPr>
              <a:t>orders,</a:t>
            </a:r>
            <a:r>
              <a:rPr sz="1950" spc="17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100" dirty="0">
                <a:solidFill>
                  <a:srgbClr val="4F5764"/>
                </a:solidFill>
                <a:latin typeface="Arial"/>
                <a:cs typeface="Arial"/>
              </a:rPr>
              <a:t>followed</a:t>
            </a:r>
            <a:r>
              <a:rPr sz="1950" spc="21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95" dirty="0">
                <a:solidFill>
                  <a:srgbClr val="4F5764"/>
                </a:solidFill>
                <a:latin typeface="Arial"/>
                <a:cs typeface="Arial"/>
              </a:rPr>
              <a:t>by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Apparel,</a:t>
            </a:r>
            <a:r>
              <a:rPr sz="1950" spc="229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85" dirty="0">
                <a:solidFill>
                  <a:srgbClr val="4F5764"/>
                </a:solidFill>
                <a:latin typeface="Arial"/>
                <a:cs typeface="Arial"/>
              </a:rPr>
              <a:t>Home</a:t>
            </a:r>
            <a:r>
              <a:rPr sz="1950" spc="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850" spc="110" dirty="0">
                <a:solidFill>
                  <a:srgbClr val="4F5764"/>
                </a:solidFill>
                <a:latin typeface="Arial"/>
                <a:cs typeface="Arial"/>
              </a:rPr>
              <a:t>&amp;</a:t>
            </a:r>
            <a:r>
              <a:rPr sz="1850" spc="-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764"/>
                </a:solidFill>
                <a:latin typeface="Arial"/>
                <a:cs typeface="Arial"/>
              </a:rPr>
              <a:t>Kitchen,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and</a:t>
            </a:r>
            <a:r>
              <a:rPr sz="1950" spc="9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Books.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2863" y="5594371"/>
            <a:ext cx="3371850" cy="1965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E1526"/>
                </a:solidFill>
                <a:latin typeface="Arial"/>
                <a:cs typeface="Arial"/>
              </a:rPr>
              <a:t>Customer</a:t>
            </a:r>
            <a:r>
              <a:rPr sz="2400" b="1" spc="434" dirty="0">
                <a:solidFill>
                  <a:srgbClr val="0E1526"/>
                </a:solidFill>
                <a:latin typeface="Arial"/>
                <a:cs typeface="Arial"/>
              </a:rPr>
              <a:t> </a:t>
            </a:r>
            <a:r>
              <a:rPr sz="2400" b="1" spc="60" dirty="0">
                <a:solidFill>
                  <a:srgbClr val="0E1526"/>
                </a:solidFill>
                <a:latin typeface="Arial"/>
                <a:cs typeface="Arial"/>
              </a:rPr>
              <a:t>Segment</a:t>
            </a:r>
            <a:endParaRPr sz="2400">
              <a:latin typeface="Arial"/>
              <a:cs typeface="Arial"/>
            </a:endParaRPr>
          </a:p>
          <a:p>
            <a:pPr marL="14604" marR="5080">
              <a:lnSpc>
                <a:spcPct val="120100"/>
              </a:lnSpc>
              <a:spcBef>
                <a:spcPts val="1130"/>
              </a:spcBef>
            </a:pP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Premium</a:t>
            </a:r>
            <a:r>
              <a:rPr sz="1950" spc="38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segment</a:t>
            </a:r>
            <a:r>
              <a:rPr sz="1950" spc="3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105" dirty="0">
                <a:solidFill>
                  <a:srgbClr val="4F5764"/>
                </a:solidFill>
                <a:latin typeface="Arial"/>
                <a:cs typeface="Arial"/>
              </a:rPr>
              <a:t>forms</a:t>
            </a:r>
            <a:r>
              <a:rPr sz="1950" spc="21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30" dirty="0">
                <a:solidFill>
                  <a:srgbClr val="4F5764"/>
                </a:solidFill>
                <a:latin typeface="Arial"/>
                <a:cs typeface="Arial"/>
              </a:rPr>
              <a:t>the </a:t>
            </a:r>
            <a:r>
              <a:rPr sz="1950" spc="75" dirty="0">
                <a:solidFill>
                  <a:srgbClr val="4F5764"/>
                </a:solidFill>
                <a:latin typeface="Arial"/>
                <a:cs typeface="Arial"/>
              </a:rPr>
              <a:t>majority</a:t>
            </a:r>
            <a:r>
              <a:rPr sz="1950" spc="19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tier,</a:t>
            </a:r>
            <a:r>
              <a:rPr sz="1950" spc="22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outpacing </a:t>
            </a: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Regular</a:t>
            </a:r>
            <a:r>
              <a:rPr sz="1950" spc="2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and</a:t>
            </a:r>
            <a:r>
              <a:rPr sz="1950" spc="1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764"/>
                </a:solidFill>
                <a:latin typeface="Arial"/>
                <a:cs typeface="Arial"/>
              </a:rPr>
              <a:t>Budget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shoppers.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1901" y="5783371"/>
            <a:ext cx="3197860" cy="158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70" dirty="0">
                <a:solidFill>
                  <a:srgbClr val="0E1526"/>
                </a:solidFill>
                <a:latin typeface="Arial"/>
                <a:cs typeface="Arial"/>
              </a:rPr>
              <a:t>Payment</a:t>
            </a:r>
            <a:r>
              <a:rPr sz="2400" b="1" spc="45" dirty="0">
                <a:solidFill>
                  <a:srgbClr val="0E1526"/>
                </a:solidFill>
                <a:latin typeface="Arial"/>
                <a:cs typeface="Arial"/>
              </a:rPr>
              <a:t> </a:t>
            </a:r>
            <a:r>
              <a:rPr sz="2400" b="1" spc="80" dirty="0">
                <a:solidFill>
                  <a:srgbClr val="0E1526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  <a:p>
            <a:pPr marL="15875" marR="5080" indent="-1905">
              <a:lnSpc>
                <a:spcPct val="116599"/>
              </a:lnSpc>
              <a:spcBef>
                <a:spcPts val="1215"/>
              </a:spcBef>
            </a:pPr>
            <a:r>
              <a:rPr sz="1950" spc="70" dirty="0">
                <a:solidFill>
                  <a:srgbClr val="4F5764"/>
                </a:solidFill>
                <a:latin typeface="Arial"/>
                <a:cs typeface="Arial"/>
              </a:rPr>
              <a:t>Credit</a:t>
            </a:r>
            <a:r>
              <a:rPr sz="1950" spc="8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4F5764"/>
                </a:solidFill>
                <a:latin typeface="Arial"/>
                <a:cs typeface="Arial"/>
              </a:rPr>
              <a:t>Cards</a:t>
            </a:r>
            <a:r>
              <a:rPr sz="1950" spc="9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764"/>
                </a:solidFill>
                <a:latin typeface="Arial"/>
                <a:cs typeface="Arial"/>
              </a:rPr>
              <a:t>and</a:t>
            </a:r>
            <a:r>
              <a:rPr sz="1950" spc="10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4F5764"/>
                </a:solidFill>
                <a:latin typeface="Arial"/>
                <a:cs typeface="Arial"/>
              </a:rPr>
              <a:t>Digital </a:t>
            </a: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Wallets</a:t>
            </a:r>
            <a:r>
              <a:rPr sz="1950" spc="28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represent</a:t>
            </a:r>
            <a:r>
              <a:rPr sz="1950" spc="49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155" dirty="0">
                <a:solidFill>
                  <a:srgbClr val="4F5764"/>
                </a:solidFill>
                <a:latin typeface="Arial"/>
                <a:cs typeface="Arial"/>
              </a:rPr>
              <a:t>&gt;65</a:t>
            </a:r>
            <a:r>
              <a:rPr sz="1900" spc="155" dirty="0">
                <a:solidFill>
                  <a:srgbClr val="4F5764"/>
                </a:solidFill>
                <a:latin typeface="Arial"/>
                <a:cs typeface="Arial"/>
              </a:rPr>
              <a:t>%</a:t>
            </a:r>
            <a:r>
              <a:rPr sz="1900" spc="37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35" dirty="0">
                <a:solidFill>
                  <a:srgbClr val="4F5764"/>
                </a:solidFill>
                <a:latin typeface="Arial"/>
                <a:cs typeface="Arial"/>
              </a:rPr>
              <a:t>of </a:t>
            </a:r>
            <a:r>
              <a:rPr sz="1950" spc="70" dirty="0">
                <a:solidFill>
                  <a:srgbClr val="4F5764"/>
                </a:solidFill>
                <a:latin typeface="Arial"/>
                <a:cs typeface="Arial"/>
              </a:rPr>
              <a:t>checkout</a:t>
            </a:r>
            <a:r>
              <a:rPr sz="1950" spc="1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35" dirty="0">
                <a:solidFill>
                  <a:srgbClr val="4F5764"/>
                </a:solidFill>
                <a:latin typeface="Arial"/>
                <a:cs typeface="Arial"/>
              </a:rPr>
              <a:t>transactions.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71041" y="5783371"/>
            <a:ext cx="3171825" cy="158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E1526"/>
                </a:solidFill>
                <a:latin typeface="Arial"/>
                <a:cs typeface="Arial"/>
              </a:rPr>
              <a:t>Return</a:t>
            </a:r>
            <a:r>
              <a:rPr sz="2400" b="1" spc="105" dirty="0">
                <a:solidFill>
                  <a:srgbClr val="0E15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E1526"/>
                </a:solidFill>
                <a:latin typeface="Arial"/>
                <a:cs typeface="Arial"/>
              </a:rPr>
              <a:t>Status</a:t>
            </a:r>
            <a:endParaRPr sz="2400">
              <a:latin typeface="Arial"/>
              <a:cs typeface="Arial"/>
            </a:endParaRPr>
          </a:p>
          <a:p>
            <a:pPr marL="18415" marR="5080" indent="-4445">
              <a:lnSpc>
                <a:spcPct val="115300"/>
              </a:lnSpc>
              <a:spcBef>
                <a:spcPts val="1245"/>
              </a:spcBef>
            </a:pPr>
            <a:r>
              <a:rPr sz="1950" dirty="0">
                <a:solidFill>
                  <a:srgbClr val="4F5764"/>
                </a:solidFill>
                <a:latin typeface="Arial"/>
                <a:cs typeface="Arial"/>
              </a:rPr>
              <a:t>Overall</a:t>
            </a:r>
            <a:r>
              <a:rPr sz="1950" spc="2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764"/>
                </a:solidFill>
                <a:latin typeface="Arial"/>
                <a:cs typeface="Arial"/>
              </a:rPr>
              <a:t>return</a:t>
            </a:r>
            <a:r>
              <a:rPr sz="1950" spc="13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764"/>
                </a:solidFill>
                <a:latin typeface="Arial"/>
                <a:cs typeface="Arial"/>
              </a:rPr>
              <a:t>rate</a:t>
            </a:r>
            <a:r>
              <a:rPr sz="1950" spc="1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764"/>
                </a:solidFill>
                <a:latin typeface="Arial"/>
                <a:cs typeface="Arial"/>
              </a:rPr>
              <a:t>remains </a:t>
            </a:r>
            <a:r>
              <a:rPr sz="1950" spc="70" dirty="0">
                <a:solidFill>
                  <a:srgbClr val="4F5764"/>
                </a:solidFill>
                <a:latin typeface="Arial"/>
                <a:cs typeface="Arial"/>
              </a:rPr>
              <a:t>low,</a:t>
            </a:r>
            <a:r>
              <a:rPr sz="1950" spc="114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4F5764"/>
                </a:solidFill>
                <a:latin typeface="Arial"/>
                <a:cs typeface="Arial"/>
              </a:rPr>
              <a:t>concentrated</a:t>
            </a:r>
            <a:r>
              <a:rPr sz="1950" spc="2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4F5764"/>
                </a:solidFill>
                <a:latin typeface="Arial"/>
                <a:cs typeface="Arial"/>
              </a:rPr>
              <a:t>around </a:t>
            </a:r>
            <a:r>
              <a:rPr sz="1950" spc="70" dirty="0">
                <a:solidFill>
                  <a:srgbClr val="4F5764"/>
                </a:solidFill>
                <a:latin typeface="Arial"/>
                <a:cs typeface="Arial"/>
              </a:rPr>
              <a:t>specific</a:t>
            </a:r>
            <a:r>
              <a:rPr sz="1950" spc="2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4F5764"/>
                </a:solidFill>
                <a:latin typeface="Arial"/>
                <a:cs typeface="Arial"/>
              </a:rPr>
              <a:t>delivery</a:t>
            </a:r>
            <a:r>
              <a:rPr sz="1950" spc="22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764"/>
                </a:solidFill>
                <a:latin typeface="Arial"/>
                <a:cs typeface="Arial"/>
              </a:rPr>
              <a:t>outliers.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423" y="696136"/>
            <a:ext cx="1805939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135" dirty="0">
                <a:solidFill>
                  <a:srgbClr val="6462E2"/>
                </a:solidFill>
                <a:latin typeface="Arial"/>
                <a:cs typeface="Arial"/>
              </a:rPr>
              <a:t>KEY</a:t>
            </a:r>
            <a:r>
              <a:rPr sz="1700" b="1" spc="200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45" dirty="0">
                <a:solidFill>
                  <a:srgbClr val="6462E2"/>
                </a:solidFill>
                <a:latin typeface="Arial"/>
                <a:cs typeface="Arial"/>
              </a:rPr>
              <a:t>FINDINGS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6332" y="842030"/>
            <a:ext cx="6713855" cy="1323975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3900" spc="85" dirty="0">
                <a:solidFill>
                  <a:srgbClr val="0E1628"/>
                </a:solidFill>
              </a:rPr>
              <a:t>Core</a:t>
            </a:r>
            <a:r>
              <a:rPr sz="3900" spc="-270" dirty="0">
                <a:solidFill>
                  <a:srgbClr val="0E1628"/>
                </a:solidFill>
              </a:rPr>
              <a:t> </a:t>
            </a:r>
            <a:r>
              <a:rPr sz="3900" spc="60" dirty="0">
                <a:solidFill>
                  <a:srgbClr val="0E1628"/>
                </a:solidFill>
              </a:rPr>
              <a:t>Demographic</a:t>
            </a:r>
            <a:r>
              <a:rPr sz="3900" spc="145" dirty="0">
                <a:solidFill>
                  <a:srgbClr val="0E1628"/>
                </a:solidFill>
              </a:rPr>
              <a:t> </a:t>
            </a:r>
            <a:r>
              <a:rPr sz="3900" spc="-10" dirty="0">
                <a:solidFill>
                  <a:srgbClr val="0E1628"/>
                </a:solidFill>
              </a:rPr>
              <a:t>Signals</a:t>
            </a:r>
            <a:endParaRPr sz="3900"/>
          </a:p>
          <a:p>
            <a:pPr marL="21590">
              <a:lnSpc>
                <a:spcPct val="100000"/>
              </a:lnSpc>
              <a:spcBef>
                <a:spcPts val="1015"/>
              </a:spcBef>
            </a:pPr>
            <a:r>
              <a:rPr sz="2300" b="0" dirty="0">
                <a:solidFill>
                  <a:srgbClr val="647085"/>
                </a:solidFill>
                <a:latin typeface="Arial"/>
                <a:cs typeface="Arial"/>
              </a:rPr>
              <a:t>Top</a:t>
            </a:r>
            <a:r>
              <a:rPr sz="2300" b="0" spc="22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b="0" dirty="0">
                <a:solidFill>
                  <a:srgbClr val="647085"/>
                </a:solidFill>
                <a:latin typeface="Arial"/>
                <a:cs typeface="Arial"/>
              </a:rPr>
              <a:t>attributes</a:t>
            </a:r>
            <a:r>
              <a:rPr sz="2300" b="0" spc="40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b="0" spc="55" dirty="0">
                <a:solidFill>
                  <a:srgbClr val="647085"/>
                </a:solidFill>
                <a:latin typeface="Arial"/>
                <a:cs typeface="Arial"/>
              </a:rPr>
              <a:t>defining</a:t>
            </a:r>
            <a:r>
              <a:rPr sz="2300" b="0" spc="29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b="0" dirty="0">
                <a:solidFill>
                  <a:srgbClr val="647085"/>
                </a:solidFill>
                <a:latin typeface="Arial"/>
                <a:cs typeface="Arial"/>
              </a:rPr>
              <a:t>overall</a:t>
            </a:r>
            <a:r>
              <a:rPr sz="2300" b="0" spc="114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b="0" dirty="0">
                <a:solidFill>
                  <a:srgbClr val="647085"/>
                </a:solidFill>
                <a:latin typeface="Arial"/>
                <a:cs typeface="Arial"/>
              </a:rPr>
              <a:t>transaction</a:t>
            </a:r>
            <a:r>
              <a:rPr sz="2300" b="0" spc="44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b="0" spc="-10" dirty="0">
                <a:solidFill>
                  <a:srgbClr val="647085"/>
                </a:solidFill>
                <a:latin typeface="Arial"/>
                <a:cs typeface="Arial"/>
              </a:rPr>
              <a:t>volume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4341" y="5728772"/>
            <a:ext cx="3394075" cy="1666239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565"/>
              </a:spcBef>
            </a:pPr>
            <a:r>
              <a:rPr sz="1950" b="1" spc="100" dirty="0">
                <a:solidFill>
                  <a:srgbClr val="465260"/>
                </a:solidFill>
                <a:latin typeface="Arial"/>
                <a:cs typeface="Arial"/>
              </a:rPr>
              <a:t>TOP</a:t>
            </a:r>
            <a:r>
              <a:rPr sz="1950" b="1" spc="135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b="1" spc="120" dirty="0">
                <a:solidFill>
                  <a:srgbClr val="465260"/>
                </a:solidFill>
                <a:latin typeface="Arial"/>
                <a:cs typeface="Arial"/>
              </a:rPr>
              <a:t>CUSTOMER</a:t>
            </a:r>
            <a:r>
              <a:rPr sz="1950" b="1" spc="455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b="1" spc="85" dirty="0">
                <a:solidFill>
                  <a:srgbClr val="465260"/>
                </a:solidFill>
                <a:latin typeface="Arial"/>
                <a:cs typeface="Arial"/>
              </a:rPr>
              <a:t>TIER</a:t>
            </a:r>
            <a:endParaRPr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4450" b="1" spc="365" dirty="0">
                <a:solidFill>
                  <a:srgbClr val="4F44DF"/>
                </a:solidFill>
                <a:latin typeface="Arial"/>
                <a:cs typeface="Arial"/>
              </a:rPr>
              <a:t>Premium</a:t>
            </a:r>
            <a:endParaRPr sz="4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950" spc="110" dirty="0">
                <a:solidFill>
                  <a:srgbClr val="465260"/>
                </a:solidFill>
                <a:latin typeface="Arial"/>
                <a:cs typeface="Arial"/>
              </a:rPr>
              <a:t>Majority</a:t>
            </a:r>
            <a:r>
              <a:rPr sz="1950" spc="-25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105" dirty="0">
                <a:solidFill>
                  <a:srgbClr val="465260"/>
                </a:solidFill>
                <a:latin typeface="Arial"/>
                <a:cs typeface="Arial"/>
              </a:rPr>
              <a:t>Customer</a:t>
            </a:r>
            <a:r>
              <a:rPr sz="1950" spc="20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65260"/>
                </a:solidFill>
                <a:latin typeface="Arial"/>
                <a:cs typeface="Arial"/>
              </a:rPr>
              <a:t>Segment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99049" y="5728772"/>
            <a:ext cx="3505200" cy="1666239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565"/>
              </a:spcBef>
            </a:pPr>
            <a:r>
              <a:rPr sz="1950" b="1" spc="140" dirty="0">
                <a:solidFill>
                  <a:srgbClr val="465260"/>
                </a:solidFill>
                <a:latin typeface="Arial"/>
                <a:cs typeface="Arial"/>
              </a:rPr>
              <a:t>HIGHEST</a:t>
            </a:r>
            <a:r>
              <a:rPr sz="1950" b="1" spc="300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b="1" spc="170" dirty="0">
                <a:solidFill>
                  <a:srgbClr val="465260"/>
                </a:solidFill>
                <a:latin typeface="Arial"/>
                <a:cs typeface="Arial"/>
              </a:rPr>
              <a:t>DEMAND</a:t>
            </a:r>
            <a:endParaRPr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4450" b="1" spc="290" dirty="0">
                <a:solidFill>
                  <a:srgbClr val="089367"/>
                </a:solidFill>
                <a:latin typeface="Arial"/>
                <a:cs typeface="Arial"/>
              </a:rPr>
              <a:t>Electronics</a:t>
            </a:r>
            <a:endParaRPr sz="4450">
              <a:latin typeface="Arial"/>
              <a:cs typeface="Arial"/>
            </a:endParaRPr>
          </a:p>
          <a:p>
            <a:pPr marL="36830" algn="ctr">
              <a:lnSpc>
                <a:spcPct val="100000"/>
              </a:lnSpc>
              <a:spcBef>
                <a:spcPts val="1440"/>
              </a:spcBef>
            </a:pPr>
            <a:r>
              <a:rPr sz="1950" spc="95" dirty="0">
                <a:solidFill>
                  <a:srgbClr val="465260"/>
                </a:solidFill>
                <a:latin typeface="Arial"/>
                <a:cs typeface="Arial"/>
              </a:rPr>
              <a:t>Highest</a:t>
            </a:r>
            <a:r>
              <a:rPr sz="1950" spc="30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95" dirty="0">
                <a:solidFill>
                  <a:srgbClr val="465260"/>
                </a:solidFill>
                <a:latin typeface="Arial"/>
                <a:cs typeface="Arial"/>
              </a:rPr>
              <a:t>Category</a:t>
            </a:r>
            <a:r>
              <a:rPr sz="1950" spc="25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465260"/>
                </a:solidFill>
                <a:latin typeface="Arial"/>
                <a:cs typeface="Arial"/>
              </a:rPr>
              <a:t>Share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99315" y="5742771"/>
            <a:ext cx="3074670" cy="165988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450"/>
              </a:spcBef>
            </a:pPr>
            <a:r>
              <a:rPr sz="1950" b="1" spc="110" dirty="0">
                <a:solidFill>
                  <a:srgbClr val="D1750C"/>
                </a:solidFill>
                <a:latin typeface="Arial"/>
                <a:cs typeface="Arial"/>
              </a:rPr>
              <a:t>OPERATIONAL</a:t>
            </a:r>
            <a:r>
              <a:rPr sz="1950" b="1" spc="380" dirty="0">
                <a:solidFill>
                  <a:srgbClr val="D1750C"/>
                </a:solidFill>
                <a:latin typeface="Arial"/>
                <a:cs typeface="Arial"/>
              </a:rPr>
              <a:t> </a:t>
            </a:r>
            <a:r>
              <a:rPr sz="1950" b="1" spc="65" dirty="0">
                <a:solidFill>
                  <a:srgbClr val="D1750C"/>
                </a:solidFill>
                <a:latin typeface="Arial"/>
                <a:cs typeface="Arial"/>
              </a:rPr>
              <a:t>RISK</a:t>
            </a:r>
            <a:endParaRPr sz="1950">
              <a:latin typeface="Arial"/>
              <a:cs typeface="Arial"/>
            </a:endParaRPr>
          </a:p>
          <a:p>
            <a:pPr marR="59690" algn="ctr">
              <a:lnSpc>
                <a:spcPct val="100000"/>
              </a:lnSpc>
              <a:spcBef>
                <a:spcPts val="745"/>
              </a:spcBef>
            </a:pPr>
            <a:r>
              <a:rPr sz="4450" b="1" spc="465" dirty="0">
                <a:solidFill>
                  <a:srgbClr val="D1750C"/>
                </a:solidFill>
                <a:latin typeface="Arial"/>
                <a:cs typeface="Arial"/>
              </a:rPr>
              <a:t>�18.5%</a:t>
            </a:r>
            <a:endParaRPr sz="4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45"/>
              </a:spcBef>
            </a:pPr>
            <a:r>
              <a:rPr sz="1950" spc="45" dirty="0">
                <a:solidFill>
                  <a:srgbClr val="465260"/>
                </a:solidFill>
                <a:latin typeface="Arial"/>
                <a:cs typeface="Arial"/>
              </a:rPr>
              <a:t>Overall</a:t>
            </a:r>
            <a:r>
              <a:rPr sz="1950" spc="-50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65260"/>
                </a:solidFill>
                <a:latin typeface="Arial"/>
                <a:cs typeface="Arial"/>
              </a:rPr>
              <a:t>Order</a:t>
            </a:r>
            <a:r>
              <a:rPr sz="1950" spc="-85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80" dirty="0">
                <a:solidFill>
                  <a:srgbClr val="465260"/>
                </a:solidFill>
                <a:latin typeface="Arial"/>
                <a:cs typeface="Arial"/>
              </a:rPr>
              <a:t>Return</a:t>
            </a:r>
            <a:r>
              <a:rPr sz="1950" spc="-65" dirty="0">
                <a:solidFill>
                  <a:srgbClr val="465260"/>
                </a:solidFill>
                <a:latin typeface="Arial"/>
                <a:cs typeface="Arial"/>
              </a:rPr>
              <a:t> </a:t>
            </a:r>
            <a:r>
              <a:rPr sz="1950" spc="-20" dirty="0">
                <a:solidFill>
                  <a:srgbClr val="465260"/>
                </a:solidFill>
                <a:latin typeface="Arial"/>
                <a:cs typeface="Arial"/>
              </a:rPr>
              <a:t>Rate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412" y="696136"/>
            <a:ext cx="278320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185" dirty="0">
                <a:solidFill>
                  <a:srgbClr val="6462E2"/>
                </a:solidFill>
                <a:latin typeface="Arial"/>
                <a:cs typeface="Arial"/>
              </a:rPr>
              <a:t>ANOMALY</a:t>
            </a:r>
            <a:r>
              <a:rPr sz="1700" spc="270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spc="145" dirty="0">
                <a:solidFill>
                  <a:srgbClr val="6462E2"/>
                </a:solidFill>
                <a:latin typeface="Arial"/>
                <a:cs typeface="Arial"/>
              </a:rPr>
              <a:t>DETECTION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5"/>
              </a:spcBef>
            </a:pPr>
            <a:r>
              <a:rPr sz="3900" spc="-50" dirty="0">
                <a:solidFill>
                  <a:srgbClr val="0F1626"/>
                </a:solidFill>
              </a:rPr>
              <a:t>IQR</a:t>
            </a:r>
            <a:r>
              <a:rPr sz="3900" spc="-170" dirty="0">
                <a:solidFill>
                  <a:srgbClr val="0F1626"/>
                </a:solidFill>
              </a:rPr>
              <a:t> </a:t>
            </a:r>
            <a:r>
              <a:rPr sz="3900" spc="45" dirty="0">
                <a:solidFill>
                  <a:srgbClr val="0F1626"/>
                </a:solidFill>
              </a:rPr>
              <a:t>Outlier</a:t>
            </a:r>
            <a:r>
              <a:rPr sz="3900" spc="70" dirty="0">
                <a:solidFill>
                  <a:srgbClr val="0F1626"/>
                </a:solidFill>
              </a:rPr>
              <a:t> </a:t>
            </a:r>
            <a:r>
              <a:rPr sz="3900" spc="85" dirty="0">
                <a:solidFill>
                  <a:srgbClr val="0F1626"/>
                </a:solidFill>
              </a:rPr>
              <a:t>Analysis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982741" y="1782880"/>
            <a:ext cx="913892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60" dirty="0">
                <a:solidFill>
                  <a:srgbClr val="667283"/>
                </a:solidFill>
                <a:latin typeface="Arial"/>
                <a:cs typeface="Arial"/>
              </a:rPr>
              <a:t>Identified</a:t>
            </a:r>
            <a:r>
              <a:rPr sz="2300" spc="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67283"/>
                </a:solidFill>
                <a:latin typeface="Arial"/>
                <a:cs typeface="Arial"/>
              </a:rPr>
              <a:t>extreme</a:t>
            </a:r>
            <a:r>
              <a:rPr sz="2300" spc="14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283"/>
                </a:solidFill>
                <a:latin typeface="Arial"/>
                <a:cs typeface="Arial"/>
              </a:rPr>
              <a:t>values</a:t>
            </a:r>
            <a:r>
              <a:rPr sz="2300" spc="6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667283"/>
                </a:solidFill>
                <a:latin typeface="Arial"/>
                <a:cs typeface="Arial"/>
              </a:rPr>
              <a:t>beyond</a:t>
            </a:r>
            <a:r>
              <a:rPr sz="2300" spc="-120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283"/>
                </a:solidFill>
                <a:latin typeface="Arial"/>
                <a:cs typeface="Arial"/>
              </a:rPr>
              <a:t>1.5</a:t>
            </a:r>
            <a:r>
              <a:rPr sz="2300" spc="21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667283"/>
                </a:solidFill>
                <a:latin typeface="Arial"/>
                <a:cs typeface="Arial"/>
              </a:rPr>
              <a:t>x</a:t>
            </a:r>
            <a:r>
              <a:rPr sz="1850" spc="42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667283"/>
                </a:solidFill>
                <a:latin typeface="Arial"/>
                <a:cs typeface="Arial"/>
              </a:rPr>
              <a:t>IQR</a:t>
            </a:r>
            <a:r>
              <a:rPr sz="2300" spc="6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667283"/>
                </a:solidFill>
                <a:latin typeface="Arial"/>
                <a:cs typeface="Arial"/>
              </a:rPr>
              <a:t>upper</a:t>
            </a:r>
            <a:r>
              <a:rPr sz="2300" spc="50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283"/>
                </a:solidFill>
                <a:latin typeface="Arial"/>
                <a:cs typeface="Arial"/>
              </a:rPr>
              <a:t>and</a:t>
            </a:r>
            <a:r>
              <a:rPr sz="2300" spc="-60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667283"/>
                </a:solidFill>
                <a:latin typeface="Arial"/>
                <a:cs typeface="Arial"/>
              </a:rPr>
              <a:t>lower</a:t>
            </a:r>
            <a:r>
              <a:rPr sz="2300" spc="35" dirty="0">
                <a:solidFill>
                  <a:srgbClr val="667283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667283"/>
                </a:solidFill>
                <a:latin typeface="Arial"/>
                <a:cs typeface="Arial"/>
              </a:rPr>
              <a:t>fences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1116" y="5566809"/>
            <a:ext cx="116840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362F90"/>
                </a:solidFill>
                <a:latin typeface="Arial"/>
                <a:cs typeface="Arial"/>
              </a:rPr>
              <a:t>Final</a:t>
            </a:r>
            <a:r>
              <a:rPr sz="1700" b="1" spc="75" dirty="0">
                <a:solidFill>
                  <a:srgbClr val="362F9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362F90"/>
                </a:solidFill>
                <a:latin typeface="Arial"/>
                <a:cs typeface="Arial"/>
              </a:rPr>
              <a:t>Price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7617" y="5558934"/>
            <a:ext cx="150749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0E5942"/>
                </a:solidFill>
                <a:latin typeface="Arial"/>
                <a:cs typeface="Arial"/>
              </a:rPr>
              <a:t>Delivery</a:t>
            </a:r>
            <a:r>
              <a:rPr sz="1700" b="1" spc="229" dirty="0">
                <a:solidFill>
                  <a:srgbClr val="0E5942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E5942"/>
                </a:solidFill>
                <a:latin typeface="Arial"/>
                <a:cs typeface="Arial"/>
              </a:rPr>
              <a:t>Days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64118" y="5562871"/>
            <a:ext cx="185864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dirty="0">
                <a:solidFill>
                  <a:srgbClr val="362F90"/>
                </a:solidFill>
                <a:latin typeface="Arial"/>
                <a:cs typeface="Arial"/>
              </a:rPr>
              <a:t>Base</a:t>
            </a:r>
            <a:r>
              <a:rPr sz="1700" b="1" spc="25" dirty="0">
                <a:solidFill>
                  <a:srgbClr val="362F9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362F90"/>
                </a:solidFill>
                <a:latin typeface="Arial"/>
                <a:cs typeface="Arial"/>
              </a:rPr>
              <a:t>Price </a:t>
            </a:r>
            <a:r>
              <a:rPr sz="1700" spc="75" dirty="0">
                <a:solidFill>
                  <a:srgbClr val="362F90"/>
                </a:solidFill>
                <a:latin typeface="Arial"/>
                <a:cs typeface="Arial"/>
              </a:rPr>
              <a:t>&amp;</a:t>
            </a:r>
            <a:r>
              <a:rPr sz="1700" spc="60" dirty="0">
                <a:solidFill>
                  <a:srgbClr val="362F9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362F90"/>
                </a:solidFill>
                <a:latin typeface="Arial"/>
                <a:cs typeface="Arial"/>
              </a:rPr>
              <a:t>Age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3608" y="6066870"/>
            <a:ext cx="4772025" cy="16046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55" dirty="0">
                <a:solidFill>
                  <a:srgbClr val="0F1626"/>
                </a:solidFill>
                <a:latin typeface="Arial"/>
                <a:cs typeface="Arial"/>
              </a:rPr>
              <a:t>High-</a:t>
            </a:r>
            <a:r>
              <a:rPr sz="2400" b="1" spc="60" dirty="0">
                <a:solidFill>
                  <a:srgbClr val="0F1626"/>
                </a:solidFill>
                <a:latin typeface="Arial"/>
                <a:cs typeface="Arial"/>
              </a:rPr>
              <a:t>Value</a:t>
            </a:r>
            <a:r>
              <a:rPr sz="2400" b="1" spc="9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F1626"/>
                </a:solidFill>
                <a:latin typeface="Arial"/>
                <a:cs typeface="Arial"/>
              </a:rPr>
              <a:t>Purchases</a:t>
            </a:r>
            <a:endParaRPr sz="2400">
              <a:latin typeface="Arial"/>
              <a:cs typeface="Arial"/>
            </a:endParaRPr>
          </a:p>
          <a:p>
            <a:pPr marL="15240" marR="5080">
              <a:lnSpc>
                <a:spcPct val="117600"/>
              </a:lnSpc>
              <a:spcBef>
                <a:spcPts val="1070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Significant</a:t>
            </a:r>
            <a:r>
              <a:rPr sz="2000" spc="-15" dirty="0">
                <a:solidFill>
                  <a:srgbClr val="4F576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upper-fence</a:t>
            </a:r>
            <a:r>
              <a:rPr sz="2000" spc="15" dirty="0">
                <a:solidFill>
                  <a:srgbClr val="4F576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outliers</a:t>
            </a:r>
            <a:r>
              <a:rPr sz="2000" spc="49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present.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Driven</a:t>
            </a:r>
            <a:r>
              <a:rPr sz="2000" spc="13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4F5764"/>
                </a:solidFill>
                <a:latin typeface="Arial"/>
                <a:cs typeface="Arial"/>
              </a:rPr>
              <a:t>by</a:t>
            </a:r>
            <a:r>
              <a:rPr sz="2000" spc="3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multi-</a:t>
            </a: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item</a:t>
            </a:r>
            <a:r>
              <a:rPr sz="2000" spc="28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high-</a:t>
            </a:r>
            <a:r>
              <a:rPr sz="2000" spc="25" dirty="0">
                <a:solidFill>
                  <a:srgbClr val="4F5764"/>
                </a:solidFill>
                <a:latin typeface="Arial"/>
                <a:cs typeface="Arial"/>
              </a:rPr>
              <a:t>end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electronics</a:t>
            </a:r>
            <a:r>
              <a:rPr sz="2000" spc="20" dirty="0">
                <a:solidFill>
                  <a:srgbClr val="4F576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bundles.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2308" y="6066870"/>
            <a:ext cx="4676775" cy="16046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970" algn="just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Shipping</a:t>
            </a:r>
            <a:r>
              <a:rPr sz="2400" b="1" spc="21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45" dirty="0">
                <a:solidFill>
                  <a:srgbClr val="0F1626"/>
                </a:solidFill>
                <a:latin typeface="Arial"/>
                <a:cs typeface="Arial"/>
              </a:rPr>
              <a:t>Delays</a:t>
            </a:r>
            <a:endParaRPr sz="2400">
              <a:latin typeface="Arial"/>
              <a:cs typeface="Arial"/>
            </a:endParaRPr>
          </a:p>
          <a:p>
            <a:pPr marL="15875" marR="5080" indent="-3810" algn="just">
              <a:lnSpc>
                <a:spcPct val="117600"/>
              </a:lnSpc>
              <a:spcBef>
                <a:spcPts val="1070"/>
              </a:spcBef>
            </a:pP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Upper-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fence</a:t>
            </a:r>
            <a:r>
              <a:rPr sz="2000" spc="2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delivery</a:t>
            </a:r>
            <a:r>
              <a:rPr sz="2000" spc="24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outliers</a:t>
            </a:r>
            <a:r>
              <a:rPr sz="2000" spc="15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4F5764"/>
                </a:solidFill>
                <a:latin typeface="Arial"/>
                <a:cs typeface="Arial"/>
              </a:rPr>
              <a:t>identified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(&gt;10</a:t>
            </a:r>
            <a:r>
              <a:rPr sz="2000" spc="2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days),</a:t>
            </a:r>
            <a:r>
              <a:rPr sz="2000" spc="3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45656"/>
                </a:solidFill>
                <a:latin typeface="Arial"/>
                <a:cs typeface="Arial"/>
              </a:rPr>
              <a:t>indicating</a:t>
            </a:r>
            <a:r>
              <a:rPr sz="2000" spc="350" dirty="0">
                <a:solidFill>
                  <a:srgbClr val="645656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specific</a:t>
            </a:r>
            <a:r>
              <a:rPr sz="2000" spc="43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logistics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bottlenecks.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76608" y="6066870"/>
            <a:ext cx="4509135" cy="16046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50" dirty="0">
                <a:solidFill>
                  <a:srgbClr val="0F1626"/>
                </a:solidFill>
                <a:latin typeface="Arial"/>
                <a:cs typeface="Arial"/>
              </a:rPr>
              <a:t>Normal</a:t>
            </a:r>
            <a:r>
              <a:rPr sz="2400" b="1" spc="-2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F1626"/>
                </a:solidFill>
                <a:latin typeface="Arial"/>
                <a:cs typeface="Arial"/>
              </a:rPr>
              <a:t>Distribution</a:t>
            </a:r>
            <a:endParaRPr sz="2400">
              <a:latin typeface="Arial"/>
              <a:cs typeface="Arial"/>
            </a:endParaRPr>
          </a:p>
          <a:p>
            <a:pPr marL="16510" marR="5080" indent="2540">
              <a:lnSpc>
                <a:spcPct val="116300"/>
              </a:lnSpc>
              <a:spcBef>
                <a:spcPts val="1160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Age</a:t>
            </a:r>
            <a:r>
              <a:rPr sz="2000" spc="2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and</a:t>
            </a:r>
            <a:r>
              <a:rPr sz="2000" spc="29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discount</a:t>
            </a:r>
            <a:r>
              <a:rPr sz="2000" spc="35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percentages</a:t>
            </a:r>
            <a:r>
              <a:rPr sz="2000" spc="409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exhibit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minimal</a:t>
            </a:r>
            <a:r>
              <a:rPr sz="2000" spc="34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outliers,</a:t>
            </a:r>
            <a:r>
              <a:rPr sz="2000" spc="3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maintaining</a:t>
            </a:r>
            <a:r>
              <a:rPr sz="2000" spc="3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tight </a:t>
            </a:r>
            <a:r>
              <a:rPr sz="2000" spc="45" dirty="0">
                <a:solidFill>
                  <a:srgbClr val="4F5764"/>
                </a:solidFill>
                <a:latin typeface="Arial"/>
                <a:cs typeface="Arial"/>
              </a:rPr>
              <a:t>concentration.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8567" y="5323572"/>
            <a:ext cx="2925941" cy="12599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48656" y="4756572"/>
            <a:ext cx="0" cy="3591560"/>
          </a:xfrm>
          <a:custGeom>
            <a:avLst/>
            <a:gdLst/>
            <a:ahLst/>
            <a:cxnLst/>
            <a:rect l="l" t="t" r="r" b="b"/>
            <a:pathLst>
              <a:path h="3591559">
                <a:moveTo>
                  <a:pt x="0" y="3590991"/>
                </a:moveTo>
                <a:lnTo>
                  <a:pt x="0" y="0"/>
                </a:lnTo>
              </a:path>
            </a:pathLst>
          </a:custGeom>
          <a:ln w="3175">
            <a:solidFill>
              <a:srgbClr val="CDD3F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12997" y="4851071"/>
            <a:ext cx="0" cy="3512820"/>
          </a:xfrm>
          <a:custGeom>
            <a:avLst/>
            <a:gdLst/>
            <a:ahLst/>
            <a:cxnLst/>
            <a:rect l="l" t="t" r="r" b="b"/>
            <a:pathLst>
              <a:path h="3512820">
                <a:moveTo>
                  <a:pt x="0" y="3512241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45292" y="4669947"/>
            <a:ext cx="8479155" cy="0"/>
          </a:xfrm>
          <a:custGeom>
            <a:avLst/>
            <a:gdLst/>
            <a:ahLst/>
            <a:cxnLst/>
            <a:rect l="l" t="t" r="r" b="b"/>
            <a:pathLst>
              <a:path w="8479155">
                <a:moveTo>
                  <a:pt x="0" y="0"/>
                </a:moveTo>
                <a:lnTo>
                  <a:pt x="84789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4232" y="696136"/>
            <a:ext cx="305943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114" dirty="0">
                <a:solidFill>
                  <a:srgbClr val="6462E4"/>
                </a:solidFill>
                <a:latin typeface="Arial"/>
                <a:cs typeface="Arial"/>
              </a:rPr>
              <a:t>STATISTICAL</a:t>
            </a:r>
            <a:r>
              <a:rPr sz="1700" b="1" spc="280" dirty="0">
                <a:solidFill>
                  <a:srgbClr val="6462E4"/>
                </a:solidFill>
                <a:latin typeface="Arial"/>
                <a:cs typeface="Arial"/>
              </a:rPr>
              <a:t> </a:t>
            </a:r>
            <a:r>
              <a:rPr sz="1700" b="1" spc="145" dirty="0">
                <a:solidFill>
                  <a:srgbClr val="6462E4"/>
                </a:solidFill>
                <a:latin typeface="Arial"/>
                <a:cs typeface="Arial"/>
              </a:rPr>
              <a:t>DEVIATION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85942" y="821289"/>
            <a:ext cx="7258050" cy="1336675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870"/>
              </a:spcBef>
            </a:pPr>
            <a:r>
              <a:rPr sz="4000" spc="50" dirty="0">
                <a:solidFill>
                  <a:srgbClr val="0E1526"/>
                </a:solidFill>
              </a:rPr>
              <a:t>Z-</a:t>
            </a:r>
            <a:r>
              <a:rPr sz="4000" spc="60" dirty="0">
                <a:solidFill>
                  <a:srgbClr val="0E1526"/>
                </a:solidFill>
              </a:rPr>
              <a:t>Score</a:t>
            </a:r>
            <a:r>
              <a:rPr sz="4000" spc="-90" dirty="0">
                <a:solidFill>
                  <a:srgbClr val="0E1526"/>
                </a:solidFill>
              </a:rPr>
              <a:t> </a:t>
            </a:r>
            <a:r>
              <a:rPr sz="4000" dirty="0">
                <a:solidFill>
                  <a:srgbClr val="0E1526"/>
                </a:solidFill>
              </a:rPr>
              <a:t>Outlier</a:t>
            </a:r>
            <a:r>
              <a:rPr sz="4000" spc="-70" dirty="0">
                <a:solidFill>
                  <a:srgbClr val="0E1526"/>
                </a:solidFill>
              </a:rPr>
              <a:t> </a:t>
            </a:r>
            <a:r>
              <a:rPr sz="4000" spc="70" dirty="0">
                <a:solidFill>
                  <a:srgbClr val="0E1526"/>
                </a:solidFill>
              </a:rPr>
              <a:t>Identification</a:t>
            </a:r>
            <a:endParaRPr sz="4000"/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189855" algn="l"/>
                <a:tab pos="6445885" algn="l"/>
              </a:tabLst>
            </a:pPr>
            <a:r>
              <a:rPr sz="2300" b="0" dirty="0">
                <a:solidFill>
                  <a:srgbClr val="647285"/>
                </a:solidFill>
                <a:latin typeface="Arial"/>
                <a:cs typeface="Arial"/>
              </a:rPr>
              <a:t>Filtering</a:t>
            </a:r>
            <a:r>
              <a:rPr sz="2300" b="0" spc="19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b="0" spc="50" dirty="0">
                <a:solidFill>
                  <a:srgbClr val="647285"/>
                </a:solidFill>
                <a:latin typeface="Arial"/>
                <a:cs typeface="Arial"/>
              </a:rPr>
              <a:t>extreme</a:t>
            </a:r>
            <a:r>
              <a:rPr sz="2300" b="0" spc="33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b="0" dirty="0">
                <a:solidFill>
                  <a:srgbClr val="647285"/>
                </a:solidFill>
                <a:latin typeface="Arial"/>
                <a:cs typeface="Arial"/>
              </a:rPr>
              <a:t>transactions</a:t>
            </a:r>
            <a:r>
              <a:rPr sz="2300" b="0" spc="-5" dirty="0">
                <a:solidFill>
                  <a:srgbClr val="647285"/>
                </a:solidFill>
                <a:latin typeface="Arial"/>
                <a:cs typeface="Arial"/>
              </a:rPr>
              <a:t>  </a:t>
            </a:r>
            <a:r>
              <a:rPr sz="2300" b="0" spc="50" dirty="0">
                <a:solidFill>
                  <a:srgbClr val="647285"/>
                </a:solidFill>
                <a:latin typeface="Arial"/>
                <a:cs typeface="Arial"/>
              </a:rPr>
              <a:t>where</a:t>
            </a:r>
            <a:r>
              <a:rPr sz="2300" b="0" dirty="0">
                <a:solidFill>
                  <a:srgbClr val="647285"/>
                </a:solidFill>
                <a:latin typeface="Arial"/>
                <a:cs typeface="Arial"/>
              </a:rPr>
              <a:t>	Z-</a:t>
            </a:r>
            <a:r>
              <a:rPr sz="2300" b="0" spc="-10" dirty="0">
                <a:solidFill>
                  <a:srgbClr val="647285"/>
                </a:solidFill>
                <a:latin typeface="Arial"/>
                <a:cs typeface="Arial"/>
              </a:rPr>
              <a:t>Score</a:t>
            </a:r>
            <a:r>
              <a:rPr sz="2300" b="0" dirty="0">
                <a:solidFill>
                  <a:srgbClr val="647285"/>
                </a:solidFill>
                <a:latin typeface="Arial"/>
                <a:cs typeface="Arial"/>
              </a:rPr>
              <a:t>	</a:t>
            </a:r>
            <a:r>
              <a:rPr sz="2300" b="0" spc="90" dirty="0">
                <a:solidFill>
                  <a:srgbClr val="647285"/>
                </a:solidFill>
                <a:latin typeface="Arial"/>
                <a:cs typeface="Arial"/>
              </a:rPr>
              <a:t>&gt;</a:t>
            </a:r>
            <a:r>
              <a:rPr sz="2300" b="0" spc="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b="0" spc="-25" dirty="0">
                <a:solidFill>
                  <a:srgbClr val="647285"/>
                </a:solidFill>
                <a:latin typeface="Arial"/>
                <a:cs typeface="Arial"/>
              </a:rPr>
              <a:t>3.0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3109" y="5653433"/>
            <a:ext cx="734187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E1526"/>
                </a:solidFill>
                <a:latin typeface="Arial"/>
                <a:cs typeface="Arial"/>
              </a:rPr>
              <a:t>Standard</a:t>
            </a:r>
            <a:r>
              <a:rPr sz="2450" b="1" spc="280" dirty="0">
                <a:solidFill>
                  <a:srgbClr val="0E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E1526"/>
                </a:solidFill>
                <a:latin typeface="Arial"/>
                <a:cs typeface="Arial"/>
              </a:rPr>
              <a:t>Deviation</a:t>
            </a:r>
            <a:r>
              <a:rPr sz="2450" b="1" spc="160" dirty="0">
                <a:solidFill>
                  <a:srgbClr val="0E1526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E1526"/>
                </a:solidFill>
                <a:latin typeface="Arial"/>
                <a:cs typeface="Arial"/>
              </a:rPr>
              <a:t>Thresholds</a:t>
            </a:r>
            <a:endParaRPr sz="2450">
              <a:latin typeface="Arial"/>
              <a:cs typeface="Arial"/>
            </a:endParaRPr>
          </a:p>
          <a:p>
            <a:pPr marL="13335" marR="5080" indent="4445">
              <a:lnSpc>
                <a:spcPct val="119200"/>
              </a:lnSpc>
              <a:spcBef>
                <a:spcPts val="1075"/>
              </a:spcBef>
            </a:pP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Z-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Score</a:t>
            </a:r>
            <a:r>
              <a:rPr sz="1950" spc="20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4D5666"/>
                </a:solidFill>
                <a:latin typeface="Arial"/>
                <a:cs typeface="Arial"/>
              </a:rPr>
              <a:t>testing</a:t>
            </a:r>
            <a:r>
              <a:rPr sz="1950" spc="24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80" dirty="0">
                <a:solidFill>
                  <a:srgbClr val="4D5666"/>
                </a:solidFill>
                <a:latin typeface="Arial"/>
                <a:cs typeface="Arial"/>
              </a:rPr>
              <a:t>confirms</a:t>
            </a:r>
            <a:r>
              <a:rPr sz="1950" spc="23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4D5666"/>
                </a:solidFill>
                <a:latin typeface="Arial"/>
                <a:cs typeface="Arial"/>
              </a:rPr>
              <a:t>that</a:t>
            </a:r>
            <a:r>
              <a:rPr sz="1950" spc="15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age,</a:t>
            </a:r>
            <a:r>
              <a:rPr sz="1950" spc="254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quantity,</a:t>
            </a:r>
            <a:r>
              <a:rPr sz="1950" spc="23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and</a:t>
            </a:r>
            <a:r>
              <a:rPr sz="1950" spc="204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4D5666"/>
                </a:solidFill>
                <a:latin typeface="Arial"/>
                <a:cs typeface="Arial"/>
              </a:rPr>
              <a:t>delivery</a:t>
            </a:r>
            <a:r>
              <a:rPr sz="1950" spc="29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days </a:t>
            </a:r>
            <a:r>
              <a:rPr sz="1950" spc="65" dirty="0">
                <a:solidFill>
                  <a:srgbClr val="4D5666"/>
                </a:solidFill>
                <a:latin typeface="Arial"/>
                <a:cs typeface="Arial"/>
              </a:rPr>
              <a:t>contain</a:t>
            </a:r>
            <a:r>
              <a:rPr sz="1950" spc="18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4D5666"/>
                </a:solidFill>
                <a:latin typeface="Arial"/>
                <a:cs typeface="Arial"/>
              </a:rPr>
              <a:t>zero</a:t>
            </a:r>
            <a:r>
              <a:rPr sz="1950" spc="229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D5666"/>
                </a:solidFill>
                <a:latin typeface="Arial"/>
                <a:cs typeface="Arial"/>
              </a:rPr>
              <a:t>extreme</a:t>
            </a:r>
            <a:r>
              <a:rPr sz="1950" spc="22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statistical</a:t>
            </a:r>
            <a:r>
              <a:rPr sz="1950" spc="27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anomalies</a:t>
            </a:r>
            <a:r>
              <a:rPr sz="1950" spc="36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4D5666"/>
                </a:solidFill>
                <a:latin typeface="Arial"/>
                <a:cs typeface="Arial"/>
              </a:rPr>
              <a:t>(IZI</a:t>
            </a:r>
            <a:r>
              <a:rPr sz="1950" spc="23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100" dirty="0">
                <a:solidFill>
                  <a:srgbClr val="4D5666"/>
                </a:solidFill>
                <a:latin typeface="Arial"/>
                <a:cs typeface="Arial"/>
              </a:rPr>
              <a:t>&gt;</a:t>
            </a:r>
            <a:r>
              <a:rPr sz="1950" spc="28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35" dirty="0">
                <a:solidFill>
                  <a:srgbClr val="4D5666"/>
                </a:solidFill>
                <a:latin typeface="Arial"/>
                <a:cs typeface="Arial"/>
              </a:rPr>
              <a:t>3).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2275" y="7173304"/>
            <a:ext cx="744728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55" dirty="0">
                <a:solidFill>
                  <a:srgbClr val="4D5666"/>
                </a:solidFill>
                <a:latin typeface="Arial"/>
                <a:cs typeface="Arial"/>
              </a:rPr>
              <a:t>Extreme</a:t>
            </a:r>
            <a:r>
              <a:rPr sz="1950" spc="16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values</a:t>
            </a:r>
            <a:r>
              <a:rPr sz="1950" spc="14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are</a:t>
            </a:r>
            <a:r>
              <a:rPr sz="1950" spc="75" dirty="0">
                <a:solidFill>
                  <a:srgbClr val="4D5666"/>
                </a:solidFill>
                <a:latin typeface="Arial"/>
                <a:cs typeface="Arial"/>
              </a:rPr>
              <a:t> strictly</a:t>
            </a:r>
            <a:r>
              <a:rPr sz="1950" spc="15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75" dirty="0">
                <a:solidFill>
                  <a:srgbClr val="4D5666"/>
                </a:solidFill>
                <a:latin typeface="Arial"/>
                <a:cs typeface="Arial"/>
              </a:rPr>
              <a:t>confined</a:t>
            </a:r>
            <a:r>
              <a:rPr sz="1950" spc="16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75" dirty="0">
                <a:solidFill>
                  <a:srgbClr val="4D5666"/>
                </a:solidFill>
                <a:latin typeface="Arial"/>
                <a:cs typeface="Arial"/>
              </a:rPr>
              <a:t>to</a:t>
            </a:r>
            <a:r>
              <a:rPr sz="1950" spc="18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80" dirty="0">
                <a:solidFill>
                  <a:srgbClr val="4D5666"/>
                </a:solidFill>
                <a:latin typeface="Arial"/>
                <a:cs typeface="Arial"/>
              </a:rPr>
              <a:t>total</a:t>
            </a:r>
            <a:r>
              <a:rPr sz="1950" spc="2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D5666"/>
                </a:solidFill>
                <a:latin typeface="Arial"/>
                <a:cs typeface="Arial"/>
              </a:rPr>
              <a:t>transaction</a:t>
            </a:r>
            <a:r>
              <a:rPr sz="1950" spc="12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40" dirty="0">
                <a:solidFill>
                  <a:srgbClr val="4D5666"/>
                </a:solidFill>
                <a:latin typeface="Arial"/>
                <a:cs typeface="Arial"/>
              </a:rPr>
              <a:t>spend.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0902" y="5932996"/>
            <a:ext cx="21272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40" dirty="0">
                <a:solidFill>
                  <a:srgbClr val="4F44DF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28924" y="6708681"/>
            <a:ext cx="318897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00" b="1" dirty="0">
                <a:solidFill>
                  <a:srgbClr val="4D5666"/>
                </a:solidFill>
                <a:latin typeface="Arial"/>
                <a:cs typeface="Arial"/>
              </a:rPr>
              <a:t>Final</a:t>
            </a:r>
            <a:r>
              <a:rPr sz="1900" b="1" spc="-3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D5666"/>
                </a:solidFill>
                <a:latin typeface="Arial"/>
                <a:cs typeface="Arial"/>
              </a:rPr>
              <a:t>Price</a:t>
            </a:r>
            <a:r>
              <a:rPr sz="1900" b="1" spc="-3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00" b="1" spc="55" dirty="0">
                <a:solidFill>
                  <a:srgbClr val="4D5666"/>
                </a:solidFill>
                <a:latin typeface="Arial"/>
                <a:cs typeface="Arial"/>
              </a:rPr>
              <a:t>High</a:t>
            </a:r>
            <a:r>
              <a:rPr sz="1900" b="1" spc="3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D5666"/>
                </a:solidFill>
                <a:latin typeface="Arial"/>
                <a:cs typeface="Arial"/>
              </a:rPr>
              <a:t>Purchases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24564" y="7171729"/>
            <a:ext cx="752729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100"/>
              </a:spcBef>
            </a:pP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Verified</a:t>
            </a:r>
            <a:r>
              <a:rPr sz="1950" spc="39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as</a:t>
            </a:r>
            <a:r>
              <a:rPr sz="1950" spc="19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legitimate</a:t>
            </a:r>
            <a:r>
              <a:rPr sz="1950" spc="29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4D5666"/>
                </a:solidFill>
                <a:latin typeface="Arial"/>
                <a:cs typeface="Arial"/>
              </a:rPr>
              <a:t>high-</a:t>
            </a:r>
            <a:r>
              <a:rPr sz="1950" spc="75" dirty="0">
                <a:solidFill>
                  <a:srgbClr val="4D5666"/>
                </a:solidFill>
                <a:latin typeface="Arial"/>
                <a:cs typeface="Arial"/>
              </a:rPr>
              <a:t>volume</a:t>
            </a:r>
            <a:r>
              <a:rPr sz="1950" spc="30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transactions</a:t>
            </a:r>
            <a:r>
              <a:rPr sz="1950" spc="45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D5666"/>
                </a:solidFill>
                <a:latin typeface="Arial"/>
                <a:cs typeface="Arial"/>
              </a:rPr>
              <a:t>rather</a:t>
            </a:r>
            <a:r>
              <a:rPr sz="1950" spc="28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than</a:t>
            </a:r>
            <a:r>
              <a:rPr sz="1950" spc="165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30" dirty="0">
                <a:solidFill>
                  <a:srgbClr val="4D5666"/>
                </a:solidFill>
                <a:latin typeface="Arial"/>
                <a:cs typeface="Arial"/>
              </a:rPr>
              <a:t>data </a:t>
            </a:r>
            <a:r>
              <a:rPr sz="1950" spc="50" dirty="0">
                <a:solidFill>
                  <a:srgbClr val="4D5666"/>
                </a:solidFill>
                <a:latin typeface="Arial"/>
                <a:cs typeface="Arial"/>
              </a:rPr>
              <a:t>entry</a:t>
            </a:r>
            <a:r>
              <a:rPr sz="1950" spc="150" dirty="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sz="1950" spc="45" dirty="0">
                <a:solidFill>
                  <a:srgbClr val="4D5666"/>
                </a:solidFill>
                <a:latin typeface="Arial"/>
                <a:cs typeface="Arial"/>
              </a:rPr>
              <a:t>errors.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127888" y="5671268"/>
            <a:ext cx="228600" cy="763905"/>
          </a:xfrm>
          <a:custGeom>
            <a:avLst/>
            <a:gdLst/>
            <a:ahLst/>
            <a:cxnLst/>
            <a:rect l="l" t="t" r="r" b="b"/>
            <a:pathLst>
              <a:path w="228600" h="763904">
                <a:moveTo>
                  <a:pt x="228097" y="763288"/>
                </a:moveTo>
                <a:lnTo>
                  <a:pt x="0" y="763288"/>
                </a:lnTo>
                <a:lnTo>
                  <a:pt x="0" y="0"/>
                </a:lnTo>
                <a:lnTo>
                  <a:pt x="228097" y="0"/>
                </a:lnTo>
                <a:lnTo>
                  <a:pt x="228097" y="763288"/>
                </a:lnTo>
                <a:close/>
              </a:path>
            </a:pathLst>
          </a:custGeom>
          <a:solidFill>
            <a:srgbClr val="4F46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115197" y="5680995"/>
            <a:ext cx="2311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55" dirty="0">
                <a:solidFill>
                  <a:srgbClr val="DFE6FB"/>
                </a:solidFill>
                <a:latin typeface="Times New Roman"/>
                <a:cs typeface="Times New Roman"/>
              </a:rPr>
              <a:t>I</a:t>
            </a:r>
            <a:endParaRPr sz="4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0371" y="5087321"/>
            <a:ext cx="0" cy="3024505"/>
          </a:xfrm>
          <a:custGeom>
            <a:avLst/>
            <a:gdLst/>
            <a:ahLst/>
            <a:cxnLst/>
            <a:rect l="l" t="t" r="r" b="b"/>
            <a:pathLst>
              <a:path h="3024504">
                <a:moveTo>
                  <a:pt x="0" y="3023992"/>
                </a:moveTo>
                <a:lnTo>
                  <a:pt x="0" y="0"/>
                </a:lnTo>
              </a:path>
            </a:pathLst>
          </a:custGeom>
          <a:ln w="62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0118" y="5087321"/>
            <a:ext cx="0" cy="3024505"/>
          </a:xfrm>
          <a:custGeom>
            <a:avLst/>
            <a:gdLst/>
            <a:ahLst/>
            <a:cxnLst/>
            <a:rect l="l" t="t" r="r" b="b"/>
            <a:pathLst>
              <a:path h="3024504">
                <a:moveTo>
                  <a:pt x="0" y="3023992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1774" y="700073"/>
            <a:ext cx="30956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100" dirty="0">
                <a:solidFill>
                  <a:srgbClr val="6462E2"/>
                </a:solidFill>
                <a:latin typeface="Arial"/>
                <a:cs typeface="Arial"/>
              </a:rPr>
              <a:t>CATEGORY</a:t>
            </a:r>
            <a:r>
              <a:rPr sz="1700" b="1" spc="400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35" dirty="0">
                <a:solidFill>
                  <a:srgbClr val="6462E2"/>
                </a:solidFill>
                <a:latin typeface="Arial"/>
                <a:cs typeface="Arial"/>
              </a:rPr>
              <a:t>BREAKDOWN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100" dirty="0">
                <a:solidFill>
                  <a:srgbClr val="0F1626"/>
                </a:solidFill>
              </a:rPr>
              <a:t>High</a:t>
            </a:r>
            <a:r>
              <a:rPr sz="3900" spc="-250" dirty="0">
                <a:solidFill>
                  <a:srgbClr val="0F1626"/>
                </a:solidFill>
              </a:rPr>
              <a:t> </a:t>
            </a:r>
            <a:r>
              <a:rPr sz="3900" spc="85" dirty="0">
                <a:solidFill>
                  <a:srgbClr val="0F1626"/>
                </a:solidFill>
              </a:rPr>
              <a:t>vs.</a:t>
            </a:r>
            <a:r>
              <a:rPr sz="3900" spc="-90" dirty="0">
                <a:solidFill>
                  <a:srgbClr val="0F1626"/>
                </a:solidFill>
              </a:rPr>
              <a:t> </a:t>
            </a:r>
            <a:r>
              <a:rPr sz="3900" spc="70" dirty="0">
                <a:solidFill>
                  <a:srgbClr val="0F1626"/>
                </a:solidFill>
              </a:rPr>
              <a:t>Low</a:t>
            </a:r>
            <a:r>
              <a:rPr sz="3900" spc="-105" dirty="0">
                <a:solidFill>
                  <a:srgbClr val="0F1626"/>
                </a:solidFill>
              </a:rPr>
              <a:t> </a:t>
            </a:r>
            <a:r>
              <a:rPr sz="3900" spc="90" dirty="0">
                <a:solidFill>
                  <a:srgbClr val="0F1626"/>
                </a:solidFill>
              </a:rPr>
              <a:t>Price</a:t>
            </a:r>
            <a:r>
              <a:rPr sz="3900" spc="-220" dirty="0">
                <a:solidFill>
                  <a:srgbClr val="0F1626"/>
                </a:solidFill>
              </a:rPr>
              <a:t> </a:t>
            </a:r>
            <a:r>
              <a:rPr sz="3900" spc="55" dirty="0">
                <a:solidFill>
                  <a:srgbClr val="0F1626"/>
                </a:solidFill>
              </a:rPr>
              <a:t>Outliers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995255" y="1790757"/>
            <a:ext cx="6798309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Category</a:t>
            </a:r>
            <a:r>
              <a:rPr sz="2300" spc="40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distribution</a:t>
            </a:r>
            <a:r>
              <a:rPr sz="2300" spc="35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across</a:t>
            </a:r>
            <a:r>
              <a:rPr sz="2300" spc="37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67083"/>
                </a:solidFill>
                <a:latin typeface="Arial"/>
                <a:cs typeface="Arial"/>
              </a:rPr>
              <a:t>extreme</a:t>
            </a:r>
            <a:r>
              <a:rPr sz="2300" spc="35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price</a:t>
            </a:r>
            <a:r>
              <a:rPr sz="2300" spc="26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667083"/>
                </a:solidFill>
                <a:latin typeface="Arial"/>
                <a:cs typeface="Arial"/>
              </a:rPr>
              <a:t>fences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1088" y="5298987"/>
            <a:ext cx="7248525" cy="145923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350" b="1" spc="110" dirty="0">
                <a:solidFill>
                  <a:srgbClr val="0F1626"/>
                </a:solidFill>
                <a:latin typeface="Arial"/>
                <a:cs typeface="Arial"/>
              </a:rPr>
              <a:t>High</a:t>
            </a:r>
            <a:r>
              <a:rPr sz="2350" b="1" spc="-17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50" dirty="0">
                <a:solidFill>
                  <a:srgbClr val="0F1626"/>
                </a:solidFill>
                <a:latin typeface="Arial"/>
                <a:cs typeface="Arial"/>
              </a:rPr>
              <a:t>Final</a:t>
            </a:r>
            <a:r>
              <a:rPr sz="2350" b="1" spc="-10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75" dirty="0">
                <a:solidFill>
                  <a:srgbClr val="0F1626"/>
                </a:solidFill>
                <a:latin typeface="Arial"/>
                <a:cs typeface="Arial"/>
              </a:rPr>
              <a:t>Price</a:t>
            </a:r>
            <a:r>
              <a:rPr sz="2350" b="1" spc="-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0F1626"/>
                </a:solidFill>
                <a:latin typeface="Arial"/>
                <a:cs typeface="Arial"/>
              </a:rPr>
              <a:t>Outliers</a:t>
            </a:r>
            <a:endParaRPr sz="23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435"/>
              </a:spcBef>
            </a:pPr>
            <a:r>
              <a:rPr sz="1950" b="1" spc="65" dirty="0">
                <a:solidFill>
                  <a:srgbClr val="4F5662"/>
                </a:solidFill>
                <a:latin typeface="Arial"/>
                <a:cs typeface="Arial"/>
              </a:rPr>
              <a:t>Category</a:t>
            </a:r>
            <a:r>
              <a:rPr sz="1950" b="1" spc="16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4F5662"/>
                </a:solidFill>
                <a:latin typeface="Arial"/>
                <a:cs typeface="Arial"/>
              </a:rPr>
              <a:t>Dominance:</a:t>
            </a:r>
            <a:r>
              <a:rPr sz="1950" b="1" spc="34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Heavily</a:t>
            </a:r>
            <a:r>
              <a:rPr sz="2000" spc="44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concentrated</a:t>
            </a:r>
            <a:r>
              <a:rPr sz="2000" spc="47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in</a:t>
            </a:r>
            <a:r>
              <a:rPr sz="2000" spc="34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Electronics</a:t>
            </a:r>
            <a:r>
              <a:rPr sz="2000" spc="40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1850" spc="60" dirty="0">
                <a:solidFill>
                  <a:srgbClr val="4F5662"/>
                </a:solidFill>
                <a:latin typeface="Arial"/>
                <a:cs typeface="Arial"/>
              </a:rPr>
              <a:t>&amp;</a:t>
            </a:r>
            <a:endParaRPr sz="18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Home</a:t>
            </a:r>
            <a:r>
              <a:rPr sz="2000" spc="29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662"/>
                </a:solidFill>
                <a:latin typeface="Arial"/>
                <a:cs typeface="Arial"/>
              </a:rPr>
              <a:t>Appliances.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6955" y="6913430"/>
            <a:ext cx="7424420" cy="734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 marR="5080" indent="-10160">
              <a:lnSpc>
                <a:spcPct val="116300"/>
              </a:lnSpc>
              <a:spcBef>
                <a:spcPts val="95"/>
              </a:spcBef>
            </a:pPr>
            <a:r>
              <a:rPr sz="1950" b="1" dirty="0">
                <a:solidFill>
                  <a:srgbClr val="4F5662"/>
                </a:solidFill>
                <a:latin typeface="Arial"/>
                <a:cs typeface="Arial"/>
              </a:rPr>
              <a:t>Basket</a:t>
            </a:r>
            <a:r>
              <a:rPr sz="1950" b="1" spc="6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1950" b="1" spc="50" dirty="0">
                <a:solidFill>
                  <a:srgbClr val="4F5662"/>
                </a:solidFill>
                <a:latin typeface="Arial"/>
                <a:cs typeface="Arial"/>
              </a:rPr>
              <a:t>Behavior:</a:t>
            </a:r>
            <a:r>
              <a:rPr sz="1950" b="1" spc="15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Higher</a:t>
            </a:r>
            <a:r>
              <a:rPr sz="2000" spc="35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average</a:t>
            </a:r>
            <a:r>
              <a:rPr sz="2000" spc="29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unit</a:t>
            </a:r>
            <a:r>
              <a:rPr sz="2000" spc="16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quantity</a:t>
            </a:r>
            <a:r>
              <a:rPr sz="2000" spc="33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4F5662"/>
                </a:solidFill>
                <a:latin typeface="Arial"/>
                <a:cs typeface="Arial"/>
              </a:rPr>
              <a:t>per</a:t>
            </a:r>
            <a:r>
              <a:rPr sz="2000" spc="12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662"/>
                </a:solidFill>
                <a:latin typeface="Arial"/>
                <a:cs typeface="Arial"/>
              </a:rPr>
              <a:t>transaction </a:t>
            </a:r>
            <a:r>
              <a:rPr sz="2000" spc="50" dirty="0">
                <a:solidFill>
                  <a:srgbClr val="4F5662"/>
                </a:solidFill>
                <a:latin typeface="Arial"/>
                <a:cs typeface="Arial"/>
              </a:rPr>
              <a:t>driving</a:t>
            </a:r>
            <a:r>
              <a:rPr sz="2000" spc="28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final</a:t>
            </a:r>
            <a:r>
              <a:rPr sz="2000" spc="20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662"/>
                </a:solidFill>
                <a:latin typeface="Arial"/>
                <a:cs typeface="Arial"/>
              </a:rPr>
              <a:t>value.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39632" y="5298987"/>
            <a:ext cx="7414259" cy="145923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350" b="1" spc="75" dirty="0">
                <a:solidFill>
                  <a:srgbClr val="0F1626"/>
                </a:solidFill>
                <a:latin typeface="Arial"/>
                <a:cs typeface="Arial"/>
              </a:rPr>
              <a:t>Low</a:t>
            </a:r>
            <a:r>
              <a:rPr sz="2350" b="1" spc="-2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50" dirty="0">
                <a:solidFill>
                  <a:srgbClr val="0F1626"/>
                </a:solidFill>
                <a:latin typeface="Arial"/>
                <a:cs typeface="Arial"/>
              </a:rPr>
              <a:t>Final</a:t>
            </a:r>
            <a:r>
              <a:rPr sz="2350" b="1" spc="-11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75" dirty="0">
                <a:solidFill>
                  <a:srgbClr val="0F1626"/>
                </a:solidFill>
                <a:latin typeface="Arial"/>
                <a:cs typeface="Arial"/>
              </a:rPr>
              <a:t>Price</a:t>
            </a:r>
            <a:r>
              <a:rPr sz="2350" b="1" spc="-10" dirty="0">
                <a:solidFill>
                  <a:srgbClr val="0F1626"/>
                </a:solidFill>
                <a:latin typeface="Arial"/>
                <a:cs typeface="Arial"/>
              </a:rPr>
              <a:t> Outliers</a:t>
            </a:r>
            <a:endParaRPr sz="2350">
              <a:latin typeface="Arial"/>
              <a:cs typeface="Arial"/>
            </a:endParaRPr>
          </a:p>
          <a:p>
            <a:pPr marL="20320" marR="5080" indent="-4445">
              <a:lnSpc>
                <a:spcPct val="121400"/>
              </a:lnSpc>
              <a:spcBef>
                <a:spcPts val="925"/>
              </a:spcBef>
            </a:pPr>
            <a:r>
              <a:rPr sz="1950" b="1" spc="65" dirty="0">
                <a:solidFill>
                  <a:srgbClr val="4F5662"/>
                </a:solidFill>
                <a:latin typeface="Arial"/>
                <a:cs typeface="Arial"/>
              </a:rPr>
              <a:t>Category</a:t>
            </a:r>
            <a:r>
              <a:rPr sz="1950" b="1" spc="13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4F5662"/>
                </a:solidFill>
                <a:latin typeface="Arial"/>
                <a:cs typeface="Arial"/>
              </a:rPr>
              <a:t>Dominance:</a:t>
            </a:r>
            <a:r>
              <a:rPr sz="1950" b="1" spc="30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Concentrated</a:t>
            </a:r>
            <a:r>
              <a:rPr sz="2000" spc="49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in</a:t>
            </a:r>
            <a:r>
              <a:rPr sz="2000" spc="34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Books</a:t>
            </a:r>
            <a:r>
              <a:rPr sz="2000" spc="30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and</a:t>
            </a:r>
            <a:r>
              <a:rPr sz="2000" spc="39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single-</a:t>
            </a:r>
            <a:r>
              <a:rPr sz="2000" spc="-20" dirty="0">
                <a:solidFill>
                  <a:srgbClr val="4F5662"/>
                </a:solidFill>
                <a:latin typeface="Arial"/>
                <a:cs typeface="Arial"/>
              </a:rPr>
              <a:t>item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Apparel</a:t>
            </a:r>
            <a:r>
              <a:rPr sz="2000" spc="39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662"/>
                </a:solidFill>
                <a:latin typeface="Arial"/>
                <a:cs typeface="Arial"/>
              </a:rPr>
              <a:t>accessories.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36702" y="6905555"/>
            <a:ext cx="6889750" cy="749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 marR="5080" indent="-10160">
              <a:lnSpc>
                <a:spcPct val="118800"/>
              </a:lnSpc>
              <a:spcBef>
                <a:spcPts val="95"/>
              </a:spcBef>
            </a:pPr>
            <a:r>
              <a:rPr sz="1950" b="1" dirty="0">
                <a:solidFill>
                  <a:srgbClr val="4F5662"/>
                </a:solidFill>
                <a:latin typeface="Arial"/>
                <a:cs typeface="Arial"/>
              </a:rPr>
              <a:t>Basket</a:t>
            </a:r>
            <a:r>
              <a:rPr sz="1950" b="1" spc="3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1950" b="1" spc="50" dirty="0">
                <a:solidFill>
                  <a:srgbClr val="4F5662"/>
                </a:solidFill>
                <a:latin typeface="Arial"/>
                <a:cs typeface="Arial"/>
              </a:rPr>
              <a:t>Behavior:</a:t>
            </a:r>
            <a:r>
              <a:rPr sz="1950" b="1" spc="14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4F5662"/>
                </a:solidFill>
                <a:latin typeface="Arial"/>
                <a:cs typeface="Arial"/>
              </a:rPr>
              <a:t>Low</a:t>
            </a:r>
            <a:r>
              <a:rPr sz="2000" spc="21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base</a:t>
            </a:r>
            <a:r>
              <a:rPr sz="2000" spc="135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4F5662"/>
                </a:solidFill>
                <a:latin typeface="Arial"/>
                <a:cs typeface="Arial"/>
              </a:rPr>
              <a:t>product</a:t>
            </a:r>
            <a:r>
              <a:rPr sz="2000" spc="254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4F5662"/>
                </a:solidFill>
                <a:latin typeface="Arial"/>
                <a:cs typeface="Arial"/>
              </a:rPr>
              <a:t>price</a:t>
            </a:r>
            <a:r>
              <a:rPr sz="2000" spc="11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combined</a:t>
            </a:r>
            <a:r>
              <a:rPr sz="2000" spc="420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4F5662"/>
                </a:solidFill>
                <a:latin typeface="Arial"/>
                <a:cs typeface="Arial"/>
              </a:rPr>
              <a:t>with </a:t>
            </a:r>
            <a:r>
              <a:rPr sz="2000" dirty="0">
                <a:solidFill>
                  <a:srgbClr val="4F5662"/>
                </a:solidFill>
                <a:latin typeface="Arial"/>
                <a:cs typeface="Arial"/>
              </a:rPr>
              <a:t>discount</a:t>
            </a:r>
            <a:r>
              <a:rPr sz="2000" spc="459" dirty="0">
                <a:solidFill>
                  <a:srgbClr val="4F566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662"/>
                </a:solidFill>
                <a:latin typeface="Arial"/>
                <a:cs typeface="Arial"/>
              </a:rPr>
              <a:t>applications.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514" y="8898812"/>
            <a:ext cx="1006775" cy="1291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4062" y="9119312"/>
            <a:ext cx="1006775" cy="1055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801" y="9465811"/>
            <a:ext cx="1368585" cy="708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17081" y="9024812"/>
            <a:ext cx="1352855" cy="114974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03720" y="7528566"/>
            <a:ext cx="1871973" cy="17324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16155" y="8363314"/>
            <a:ext cx="204501" cy="314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30629" y="10064309"/>
            <a:ext cx="1305662" cy="110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910680" y="11151056"/>
            <a:ext cx="692158" cy="1259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901487" y="9363435"/>
            <a:ext cx="708025" cy="0"/>
          </a:xfrm>
          <a:custGeom>
            <a:avLst/>
            <a:gdLst/>
            <a:ahLst/>
            <a:cxnLst/>
            <a:rect l="l" t="t" r="r" b="b"/>
            <a:pathLst>
              <a:path w="708025">
                <a:moveTo>
                  <a:pt x="0" y="0"/>
                </a:moveTo>
                <a:lnTo>
                  <a:pt x="707888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07982" y="1015880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>
                <a:moveTo>
                  <a:pt x="0" y="0"/>
                </a:moveTo>
                <a:lnTo>
                  <a:pt x="33034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1211" y="654814"/>
            <a:ext cx="7699375" cy="15113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459"/>
              </a:spcBef>
            </a:pPr>
            <a:r>
              <a:rPr sz="1700" spc="145" dirty="0">
                <a:solidFill>
                  <a:srgbClr val="6462E4"/>
                </a:solidFill>
                <a:latin typeface="Arial"/>
                <a:cs typeface="Arial"/>
              </a:rPr>
              <a:t>LOGISTICS</a:t>
            </a:r>
            <a:r>
              <a:rPr sz="1700" spc="320" dirty="0">
                <a:solidFill>
                  <a:srgbClr val="6462E4"/>
                </a:solidFill>
                <a:latin typeface="Arial"/>
                <a:cs typeface="Arial"/>
              </a:rPr>
              <a:t> </a:t>
            </a:r>
            <a:r>
              <a:rPr sz="1700" spc="140" dirty="0">
                <a:solidFill>
                  <a:srgbClr val="6462E4"/>
                </a:solidFill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3900" b="1" spc="105" dirty="0">
                <a:solidFill>
                  <a:srgbClr val="0E1626"/>
                </a:solidFill>
                <a:latin typeface="Arial"/>
                <a:cs typeface="Arial"/>
              </a:rPr>
              <a:t>Delivery</a:t>
            </a:r>
            <a:r>
              <a:rPr sz="3900" b="1" spc="-7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3900" b="1" spc="100" dirty="0">
                <a:solidFill>
                  <a:srgbClr val="0E1626"/>
                </a:solidFill>
                <a:latin typeface="Arial"/>
                <a:cs typeface="Arial"/>
              </a:rPr>
              <a:t>Delay</a:t>
            </a:r>
            <a:r>
              <a:rPr sz="3900" b="1" spc="-13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3700" b="1" spc="105" dirty="0">
                <a:solidFill>
                  <a:srgbClr val="0E1626"/>
                </a:solidFill>
                <a:latin typeface="Arial"/>
                <a:cs typeface="Arial"/>
              </a:rPr>
              <a:t>&amp;</a:t>
            </a:r>
            <a:r>
              <a:rPr sz="3700" b="1" spc="-27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3900" b="1" spc="55" dirty="0">
                <a:solidFill>
                  <a:srgbClr val="0E1626"/>
                </a:solidFill>
                <a:latin typeface="Arial"/>
                <a:cs typeface="Arial"/>
              </a:rPr>
              <a:t>Return</a:t>
            </a:r>
            <a:r>
              <a:rPr sz="3900" b="1" spc="-23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3900" b="1" spc="-20" dirty="0">
                <a:solidFill>
                  <a:srgbClr val="0E1626"/>
                </a:solidFill>
                <a:latin typeface="Arial"/>
                <a:cs typeface="Arial"/>
              </a:rPr>
              <a:t>Risk</a:t>
            </a:r>
            <a:endParaRPr sz="3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070"/>
              </a:spcBef>
            </a:pPr>
            <a:r>
              <a:rPr sz="2300" dirty="0">
                <a:solidFill>
                  <a:srgbClr val="6D6E72"/>
                </a:solidFill>
                <a:latin typeface="Arial"/>
                <a:cs typeface="Arial"/>
              </a:rPr>
              <a:t>Evaluating</a:t>
            </a:r>
            <a:r>
              <a:rPr sz="2300" spc="22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D6E72"/>
                </a:solidFill>
                <a:latin typeface="Arial"/>
                <a:cs typeface="Arial"/>
              </a:rPr>
              <a:t>logistics</a:t>
            </a:r>
            <a:r>
              <a:rPr sz="2300" spc="31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D6E72"/>
                </a:solidFill>
                <a:latin typeface="Arial"/>
                <a:cs typeface="Arial"/>
              </a:rPr>
              <a:t>performance</a:t>
            </a:r>
            <a:r>
              <a:rPr sz="2300" spc="380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D6E72"/>
                </a:solidFill>
                <a:latin typeface="Arial"/>
                <a:cs typeface="Arial"/>
              </a:rPr>
              <a:t>impact</a:t>
            </a:r>
            <a:r>
              <a:rPr sz="2300" spc="24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6D6E72"/>
                </a:solidFill>
                <a:latin typeface="Arial"/>
                <a:cs typeface="Arial"/>
              </a:rPr>
              <a:t>on</a:t>
            </a:r>
            <a:r>
              <a:rPr sz="2300" spc="5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6D6E72"/>
                </a:solidFill>
                <a:latin typeface="Arial"/>
                <a:cs typeface="Arial"/>
              </a:rPr>
              <a:t>order</a:t>
            </a:r>
            <a:r>
              <a:rPr sz="2300" spc="19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6D6E72"/>
                </a:solidFill>
                <a:latin typeface="Arial"/>
                <a:cs typeface="Arial"/>
              </a:rPr>
              <a:t>returns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4966" y="4728124"/>
            <a:ext cx="21399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50" dirty="0">
                <a:solidFill>
                  <a:srgbClr val="DD4D54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4849" y="5098248"/>
            <a:ext cx="54038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b="1" spc="160" dirty="0">
                <a:solidFill>
                  <a:srgbClr val="6D6E72"/>
                </a:solidFill>
                <a:latin typeface="Arial"/>
                <a:cs typeface="Arial"/>
              </a:rPr>
              <a:t>ffl:'IUUII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79449" y="5098248"/>
            <a:ext cx="9226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b="1" spc="90" dirty="0">
                <a:solidFill>
                  <a:srgbClr val="6D6E72"/>
                </a:solidFill>
                <a:latin typeface="Arial"/>
                <a:cs typeface="Arial"/>
              </a:rPr>
              <a:t>DcJ\.</a:t>
            </a:r>
            <a:r>
              <a:rPr sz="600" b="1" spc="90" dirty="0">
                <a:solidFill>
                  <a:srgbClr val="525962"/>
                </a:solidFill>
                <a:latin typeface="Arial"/>
                <a:cs typeface="Arial"/>
              </a:rPr>
              <a:t>I\.</a:t>
            </a:r>
            <a:r>
              <a:rPr sz="600" b="1" spc="90" dirty="0">
                <a:solidFill>
                  <a:srgbClr val="6D6E72"/>
                </a:solidFill>
                <a:latin typeface="Arial"/>
                <a:cs typeface="Arial"/>
              </a:rPr>
              <a:t>UI</a:t>
            </a:r>
            <a:r>
              <a:rPr sz="600" b="1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600" b="1" spc="220" dirty="0">
                <a:solidFill>
                  <a:srgbClr val="6D6E72"/>
                </a:solidFill>
                <a:latin typeface="Arial"/>
                <a:cs typeface="Arial"/>
              </a:rPr>
              <a:t>Ul:Il:U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3667" y="5090373"/>
            <a:ext cx="829944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b="1" spc="220" dirty="0">
                <a:solidFill>
                  <a:srgbClr val="8C8A8A"/>
                </a:solidFill>
                <a:latin typeface="Arial"/>
                <a:cs typeface="Arial"/>
              </a:rPr>
              <a:t>rtd)'</a:t>
            </a:r>
            <a:r>
              <a:rPr sz="600" b="1" spc="1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650" b="1" spc="-20" dirty="0">
                <a:solidFill>
                  <a:srgbClr val="8C8A8A"/>
                </a:solidFill>
                <a:latin typeface="Arial"/>
                <a:cs typeface="Arial"/>
              </a:rPr>
              <a:t>':JI</a:t>
            </a:r>
            <a:r>
              <a:rPr sz="650" b="1" spc="-20" dirty="0">
                <a:solidFill>
                  <a:srgbClr val="AAAAAA"/>
                </a:solidFill>
                <a:latin typeface="Arial"/>
                <a:cs typeface="Arial"/>
              </a:rPr>
              <a:t>,</a:t>
            </a:r>
            <a:r>
              <a:rPr sz="650" b="1" spc="16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600" b="1" spc="85" dirty="0">
                <a:solidFill>
                  <a:srgbClr val="8C8A8A"/>
                </a:solidFill>
                <a:latin typeface="Arial"/>
                <a:cs typeface="Arial"/>
              </a:rPr>
              <a:t>c;U</a:t>
            </a:r>
            <a:r>
              <a:rPr sz="600" b="1" spc="85" dirty="0">
                <a:solidFill>
                  <a:srgbClr val="6D6E72"/>
                </a:solidFill>
                <a:latin typeface="Arial"/>
                <a:cs typeface="Arial"/>
              </a:rPr>
              <a:t>J.</a:t>
            </a:r>
            <a:r>
              <a:rPr sz="600" b="1" spc="85" dirty="0">
                <a:solidFill>
                  <a:srgbClr val="8C8A8A"/>
                </a:solidFill>
                <a:latin typeface="Arial"/>
                <a:cs typeface="Arial"/>
              </a:rPr>
              <a:t>O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12706" y="5050997"/>
            <a:ext cx="901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0" dirty="0">
                <a:solidFill>
                  <a:srgbClr val="525962"/>
                </a:solidFill>
                <a:latin typeface="Arial"/>
                <a:cs typeface="Arial"/>
              </a:rPr>
              <a:t>l1</a:t>
            </a:r>
            <a:r>
              <a:rPr sz="1600" spc="-5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600" spc="-50" dirty="0">
                <a:solidFill>
                  <a:srgbClr val="525962"/>
                </a:solidFill>
                <a:latin typeface="Arial"/>
                <a:cs typeface="Arial"/>
              </a:rPr>
              <a:t>v</a:t>
            </a:r>
            <a:r>
              <a:rPr sz="1600" spc="-50" dirty="0">
                <a:solidFill>
                  <a:srgbClr val="6D6E72"/>
                </a:solidFill>
                <a:latin typeface="Arial"/>
                <a:cs typeface="Arial"/>
              </a:rPr>
              <a:t>e</a:t>
            </a:r>
            <a:r>
              <a:rPr sz="1600" spc="-50" dirty="0">
                <a:solidFill>
                  <a:srgbClr val="525962"/>
                </a:solidFill>
                <a:latin typeface="Arial"/>
                <a:cs typeface="Arial"/>
              </a:rPr>
              <a:t>nt</a:t>
            </a:r>
            <a:r>
              <a:rPr sz="1600" spc="-50" dirty="0">
                <a:solidFill>
                  <a:srgbClr val="6D6E72"/>
                </a:solidFill>
                <a:latin typeface="Arial"/>
                <a:cs typeface="Arial"/>
              </a:rPr>
              <a:t>ory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3549" y="5031310"/>
            <a:ext cx="232410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spc="70" dirty="0">
                <a:solidFill>
                  <a:srgbClr val="DD4D54"/>
                </a:solidFill>
                <a:latin typeface="Arial"/>
                <a:cs typeface="Arial"/>
              </a:rPr>
              <a:t>•</a:t>
            </a:r>
            <a:endParaRPr sz="4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6157" y="5209284"/>
            <a:ext cx="1303020" cy="1647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6075" indent="8255">
              <a:lnSpc>
                <a:spcPct val="1406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John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n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y's </a:t>
            </a:r>
            <a:r>
              <a:rPr sz="1250" b="1" spc="-70" dirty="0">
                <a:solidFill>
                  <a:srgbClr val="6D6E72"/>
                </a:solidFill>
                <a:latin typeface="Arial"/>
                <a:cs typeface="Arial"/>
              </a:rPr>
              <a:t>Testa</a:t>
            </a:r>
            <a:r>
              <a:rPr sz="1250" b="1" spc="-7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In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c. 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W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eldon </a:t>
            </a:r>
            <a:r>
              <a:rPr sz="1250" b="1" spc="-50" dirty="0">
                <a:solidFill>
                  <a:srgbClr val="525962"/>
                </a:solidFill>
                <a:latin typeface="Arial"/>
                <a:cs typeface="Arial"/>
              </a:rPr>
              <a:t>T</a:t>
            </a:r>
            <a:r>
              <a:rPr sz="1250" b="1" spc="-50" dirty="0">
                <a:solidFill>
                  <a:srgbClr val="6D6E72"/>
                </a:solidFill>
                <a:latin typeface="Arial"/>
                <a:cs typeface="Arial"/>
              </a:rPr>
              <a:t>esta</a:t>
            </a:r>
            <a:r>
              <a:rPr sz="1250" b="1" spc="-60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Inc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. 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W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ellto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,vnI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nc</a:t>
            </a:r>
            <a:r>
              <a:rPr sz="1250" b="1" spc="-40" dirty="0">
                <a:solidFill>
                  <a:srgbClr val="8C8A8A"/>
                </a:solidFill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250" b="1" spc="-90" dirty="0">
                <a:solidFill>
                  <a:srgbClr val="6D6E72"/>
                </a:solidFill>
                <a:latin typeface="Arial"/>
                <a:cs typeface="Arial"/>
              </a:rPr>
              <a:t>Richards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B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r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others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65555" y="5209284"/>
            <a:ext cx="927735" cy="16402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7620" algn="just">
              <a:lnSpc>
                <a:spcPct val="141400"/>
              </a:lnSpc>
              <a:spcBef>
                <a:spcPts val="80"/>
              </a:spcBef>
            </a:pPr>
            <a:r>
              <a:rPr sz="1250" b="1" spc="-65" dirty="0">
                <a:solidFill>
                  <a:srgbClr val="6D6E72"/>
                </a:solidFill>
                <a:latin typeface="Arial"/>
                <a:cs typeface="Arial"/>
              </a:rPr>
              <a:t>Backordered </a:t>
            </a:r>
            <a:r>
              <a:rPr sz="1250" b="1" spc="-60" dirty="0">
                <a:solidFill>
                  <a:srgbClr val="6D6E72"/>
                </a:solidFill>
                <a:latin typeface="Arial"/>
                <a:cs typeface="Arial"/>
              </a:rPr>
              <a:t>Backordered Bac</a:t>
            </a:r>
            <a:r>
              <a:rPr sz="1250" b="1" spc="-60" dirty="0">
                <a:solidFill>
                  <a:srgbClr val="525962"/>
                </a:solidFill>
                <a:latin typeface="Arial"/>
                <a:cs typeface="Arial"/>
              </a:rPr>
              <a:t>k</a:t>
            </a:r>
            <a:r>
              <a:rPr sz="1250" b="1" spc="-60" dirty="0">
                <a:solidFill>
                  <a:srgbClr val="6D6E72"/>
                </a:solidFill>
                <a:latin typeface="Arial"/>
                <a:cs typeface="Arial"/>
              </a:rPr>
              <a:t>ordered Bac</a:t>
            </a:r>
            <a:r>
              <a:rPr sz="1250" b="1" spc="-60" dirty="0">
                <a:solidFill>
                  <a:srgbClr val="525962"/>
                </a:solidFill>
                <a:latin typeface="Arial"/>
                <a:cs typeface="Arial"/>
              </a:rPr>
              <a:t>k</a:t>
            </a:r>
            <a:r>
              <a:rPr sz="1250" b="1" spc="-60" dirty="0">
                <a:solidFill>
                  <a:srgbClr val="6D6E72"/>
                </a:solidFill>
                <a:latin typeface="Arial"/>
                <a:cs typeface="Arial"/>
              </a:rPr>
              <a:t>ordered Backordered </a:t>
            </a:r>
            <a:r>
              <a:rPr sz="1250" b="1" spc="-90" dirty="0">
                <a:solidFill>
                  <a:srgbClr val="6D6E72"/>
                </a:solidFill>
                <a:latin typeface="Arial"/>
                <a:cs typeface="Arial"/>
              </a:rPr>
              <a:t>Bae:kordered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97410" y="5209284"/>
            <a:ext cx="864235" cy="16478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250" b="1" spc="-75" dirty="0">
                <a:solidFill>
                  <a:srgbClr val="6D6E72"/>
                </a:solidFill>
                <a:latin typeface="Arial"/>
                <a:cs typeface="Arial"/>
              </a:rPr>
              <a:t>M</a:t>
            </a:r>
            <a:r>
              <a:rPr sz="1250" b="1" spc="-75" dirty="0">
                <a:solidFill>
                  <a:srgbClr val="8C8A8A"/>
                </a:solidFill>
                <a:latin typeface="Arial"/>
                <a:cs typeface="Arial"/>
              </a:rPr>
              <a:t>ay</a:t>
            </a:r>
            <a:r>
              <a:rPr sz="1250" b="1" spc="-3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40" dirty="0">
                <a:solidFill>
                  <a:srgbClr val="8C8A8A"/>
                </a:solidFill>
                <a:latin typeface="Arial"/>
                <a:cs typeface="Arial"/>
              </a:rPr>
              <a:t>5,</a:t>
            </a:r>
            <a:r>
              <a:rPr sz="1250" b="1" spc="-5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20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6</a:t>
            </a:r>
            <a:endParaRPr sz="12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605"/>
              </a:spcBef>
            </a:pPr>
            <a:r>
              <a:rPr sz="1250" b="1" spc="-85" dirty="0">
                <a:solidFill>
                  <a:srgbClr val="8C8A8A"/>
                </a:solidFill>
                <a:latin typeface="Arial"/>
                <a:cs typeface="Arial"/>
              </a:rPr>
              <a:t>May</a:t>
            </a:r>
            <a:r>
              <a:rPr sz="1250" b="1" spc="-1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45" dirty="0">
                <a:solidFill>
                  <a:srgbClr val="8C8A8A"/>
                </a:solidFill>
                <a:latin typeface="Arial"/>
                <a:cs typeface="Arial"/>
              </a:rPr>
              <a:t>4</a:t>
            </a:r>
            <a:r>
              <a:rPr sz="1250" b="1" spc="-45" dirty="0">
                <a:solidFill>
                  <a:srgbClr val="AAAAAA"/>
                </a:solidFill>
                <a:latin typeface="Arial"/>
                <a:cs typeface="Arial"/>
              </a:rPr>
              <a:t>,</a:t>
            </a:r>
            <a:r>
              <a:rPr sz="1250" b="1" spc="-8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20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6</a:t>
            </a:r>
            <a:endParaRPr sz="12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620"/>
              </a:spcBef>
            </a:pPr>
            <a:r>
              <a:rPr sz="1250" b="1" spc="-110" dirty="0">
                <a:solidFill>
                  <a:srgbClr val="8C8A8A"/>
                </a:solidFill>
                <a:latin typeface="Arial"/>
                <a:cs typeface="Arial"/>
              </a:rPr>
              <a:t>t-</a:t>
            </a:r>
            <a:r>
              <a:rPr sz="1250" b="1" spc="-19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190" dirty="0">
                <a:solidFill>
                  <a:srgbClr val="8C8A8A"/>
                </a:solidFill>
                <a:latin typeface="Arial"/>
                <a:cs typeface="Arial"/>
              </a:rPr>
              <a:t>ay</a:t>
            </a:r>
            <a:r>
              <a:rPr sz="1250" b="1" spc="-10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8C8A8A"/>
                </a:solidFill>
                <a:latin typeface="Arial"/>
                <a:cs typeface="Arial"/>
              </a:rPr>
              <a:t>3</a:t>
            </a:r>
            <a:r>
              <a:rPr sz="1300" b="1" i="1" dirty="0">
                <a:solidFill>
                  <a:srgbClr val="AAAAAA"/>
                </a:solidFill>
                <a:latin typeface="Arial"/>
                <a:cs typeface="Arial"/>
              </a:rPr>
              <a:t>.</a:t>
            </a:r>
            <a:r>
              <a:rPr sz="1300" b="1" i="1" spc="-11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20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6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b="1" spc="-60" dirty="0">
                <a:solidFill>
                  <a:srgbClr val="8C8A8A"/>
                </a:solidFill>
                <a:latin typeface="Arial"/>
                <a:cs typeface="Arial"/>
              </a:rPr>
              <a:t>May</a:t>
            </a:r>
            <a:r>
              <a:rPr sz="1250" b="1" spc="-4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35" dirty="0">
                <a:solidFill>
                  <a:srgbClr val="8C8A8A"/>
                </a:solidFill>
                <a:latin typeface="Arial"/>
                <a:cs typeface="Arial"/>
              </a:rPr>
              <a:t>3</a:t>
            </a:r>
            <a:r>
              <a:rPr sz="1250" b="1" spc="-35" dirty="0">
                <a:solidFill>
                  <a:srgbClr val="AAAAAA"/>
                </a:solidFill>
                <a:latin typeface="Arial"/>
                <a:cs typeface="Arial"/>
              </a:rPr>
              <a:t>,</a:t>
            </a:r>
            <a:r>
              <a:rPr sz="1250" b="1" spc="-8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20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6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50" b="1" spc="-65" dirty="0">
                <a:solidFill>
                  <a:srgbClr val="6D6E72"/>
                </a:solidFill>
                <a:latin typeface="Arial"/>
                <a:cs typeface="Arial"/>
              </a:rPr>
              <a:t>M</a:t>
            </a:r>
            <a:r>
              <a:rPr sz="1250" b="1" spc="-65" dirty="0">
                <a:solidFill>
                  <a:srgbClr val="8C8A8A"/>
                </a:solidFill>
                <a:latin typeface="Arial"/>
                <a:cs typeface="Arial"/>
              </a:rPr>
              <a:t>ay</a:t>
            </a:r>
            <a:r>
              <a:rPr sz="1250" b="1" spc="-1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40" dirty="0">
                <a:solidFill>
                  <a:srgbClr val="8C8A8A"/>
                </a:solidFill>
                <a:latin typeface="Arial"/>
                <a:cs typeface="Arial"/>
              </a:rPr>
              <a:t>2</a:t>
            </a:r>
            <a:r>
              <a:rPr sz="1250" b="1" spc="-40" dirty="0">
                <a:solidFill>
                  <a:srgbClr val="AAAAAA"/>
                </a:solidFill>
                <a:latin typeface="Arial"/>
                <a:cs typeface="Arial"/>
              </a:rPr>
              <a:t>,</a:t>
            </a:r>
            <a:r>
              <a:rPr sz="1250" b="1" spc="-10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20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6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50" b="1" spc="-60" dirty="0">
                <a:solidFill>
                  <a:srgbClr val="8C8A8A"/>
                </a:solidFill>
                <a:latin typeface="Arial"/>
                <a:cs typeface="Arial"/>
              </a:rPr>
              <a:t>May</a:t>
            </a:r>
            <a:r>
              <a:rPr sz="1250" b="1" spc="-10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8C8A8A"/>
                </a:solidFill>
                <a:latin typeface="Arial"/>
                <a:cs typeface="Arial"/>
              </a:rPr>
              <a:t>1</a:t>
            </a:r>
            <a:r>
              <a:rPr sz="1250" b="1" dirty="0">
                <a:solidFill>
                  <a:srgbClr val="AAAAAA"/>
                </a:solidFill>
                <a:latin typeface="Arial"/>
                <a:cs typeface="Arial"/>
              </a:rPr>
              <a:t>.</a:t>
            </a:r>
            <a:r>
              <a:rPr sz="1250" b="1" spc="-9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2016</a:t>
            </a:r>
            <a:endParaRPr sz="1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3549" y="5314809"/>
            <a:ext cx="232410" cy="17532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690"/>
              </a:lnSpc>
              <a:spcBef>
                <a:spcPts val="110"/>
              </a:spcBef>
            </a:pPr>
            <a:r>
              <a:rPr sz="4300" spc="-50" dirty="0">
                <a:solidFill>
                  <a:srgbClr val="DD4D54"/>
                </a:solidFill>
                <a:latin typeface="Arial"/>
                <a:cs typeface="Arial"/>
              </a:rPr>
              <a:t>•</a:t>
            </a:r>
            <a:endParaRPr sz="4300">
              <a:latin typeface="Arial"/>
              <a:cs typeface="Arial"/>
            </a:endParaRPr>
          </a:p>
          <a:p>
            <a:pPr marL="12700">
              <a:lnSpc>
                <a:spcPts val="4215"/>
              </a:lnSpc>
            </a:pPr>
            <a:r>
              <a:rPr sz="4300" spc="70" dirty="0">
                <a:solidFill>
                  <a:srgbClr val="DD4D54"/>
                </a:solidFill>
                <a:latin typeface="Arial"/>
                <a:cs typeface="Arial"/>
              </a:rPr>
              <a:t>•</a:t>
            </a:r>
            <a:endParaRPr sz="4300">
              <a:latin typeface="Arial"/>
              <a:cs typeface="Arial"/>
            </a:endParaRPr>
          </a:p>
          <a:p>
            <a:pPr marL="12700">
              <a:lnSpc>
                <a:spcPts val="4690"/>
              </a:lnSpc>
            </a:pPr>
            <a:r>
              <a:rPr sz="4300" spc="-50" dirty="0">
                <a:solidFill>
                  <a:srgbClr val="DD4D54"/>
                </a:solidFill>
                <a:latin typeface="Arial"/>
                <a:cs typeface="Arial"/>
              </a:rPr>
              <a:t>•</a:t>
            </a:r>
            <a:endParaRPr sz="4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82066" y="5450049"/>
            <a:ext cx="876300" cy="16592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100" b="1" spc="-10" dirty="0">
                <a:solidFill>
                  <a:srgbClr val="AAAAAA"/>
                </a:solidFill>
                <a:latin typeface="Arial"/>
                <a:cs typeface="Arial"/>
              </a:rPr>
              <a:t>Cateqor;</a:t>
            </a:r>
            <a:endParaRPr sz="1100">
              <a:latin typeface="Arial"/>
              <a:cs typeface="Arial"/>
            </a:endParaRPr>
          </a:p>
          <a:p>
            <a:pPr marL="46355" marR="5080" algn="just">
              <a:lnSpc>
                <a:spcPct val="141600"/>
              </a:lnSpc>
              <a:spcBef>
                <a:spcPts val="200"/>
              </a:spcBef>
            </a:pP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E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l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ectronics E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l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ectronics Elec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t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roni</a:t>
            </a:r>
            <a:r>
              <a:rPr sz="1250" b="1" spc="-40" dirty="0">
                <a:solidFill>
                  <a:srgbClr val="8C8A8A"/>
                </a:solidFill>
                <a:latin typeface="Arial"/>
                <a:cs typeface="Arial"/>
              </a:rPr>
              <a:t>c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s Elec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tr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onics E</a:t>
            </a:r>
            <a:r>
              <a:rPr sz="1250" b="1" spc="-40" dirty="0">
                <a:solidFill>
                  <a:srgbClr val="525962"/>
                </a:solidFill>
                <a:latin typeface="Arial"/>
                <a:cs typeface="Arial"/>
              </a:rPr>
              <a:t>l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ectronics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33136" y="5427461"/>
            <a:ext cx="1880870" cy="168148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250" b="1" spc="-65" dirty="0">
                <a:solidFill>
                  <a:srgbClr val="AAAAAA"/>
                </a:solidFill>
                <a:latin typeface="Times New Roman"/>
                <a:cs typeface="Times New Roman"/>
              </a:rPr>
              <a:t>Prod</a:t>
            </a:r>
            <a:r>
              <a:rPr sz="1250" b="1" spc="-10" dirty="0">
                <a:solidFill>
                  <a:srgbClr val="AAAAAA"/>
                </a:solidFill>
                <a:latin typeface="Times New Roman"/>
                <a:cs typeface="Times New Roman"/>
              </a:rPr>
              <a:t> </a:t>
            </a:r>
            <a:r>
              <a:rPr sz="1250" b="1" spc="-25" dirty="0">
                <a:solidFill>
                  <a:srgbClr val="BAB8BC"/>
                </a:solidFill>
                <a:latin typeface="Times New Roman"/>
                <a:cs typeface="Times New Roman"/>
              </a:rPr>
              <a:t>•ct</a:t>
            </a:r>
            <a:endParaRPr sz="1250">
              <a:latin typeface="Times New Roman"/>
              <a:cs typeface="Times New Roman"/>
            </a:endParaRPr>
          </a:p>
          <a:p>
            <a:pPr marL="43180" marR="5080" indent="6350">
              <a:lnSpc>
                <a:spcPct val="140600"/>
              </a:lnSpc>
              <a:spcBef>
                <a:spcPts val="185"/>
              </a:spcBef>
            </a:pPr>
            <a:r>
              <a:rPr sz="1250" b="1" spc="-90" dirty="0">
                <a:solidFill>
                  <a:srgbClr val="6D6E72"/>
                </a:solidFill>
                <a:latin typeface="Arial"/>
                <a:cs typeface="Arial"/>
              </a:rPr>
              <a:t>So</a:t>
            </a:r>
            <a:r>
              <a:rPr sz="1250" b="1" spc="-90" dirty="0">
                <a:solidFill>
                  <a:srgbClr val="525962"/>
                </a:solidFill>
                <a:latin typeface="Arial"/>
                <a:cs typeface="Arial"/>
              </a:rPr>
              <a:t>ny</a:t>
            </a:r>
            <a:r>
              <a:rPr sz="1250" b="1" spc="-95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250" b="1" spc="-75" dirty="0">
                <a:solidFill>
                  <a:srgbClr val="6D6E72"/>
                </a:solidFill>
                <a:latin typeface="Arial"/>
                <a:cs typeface="Arial"/>
              </a:rPr>
              <a:t>Bravia</a:t>
            </a:r>
            <a:r>
              <a:rPr sz="1250" b="1" spc="-2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55" dirty="0">
                <a:solidFill>
                  <a:srgbClr val="6D6E72"/>
                </a:solidFill>
                <a:latin typeface="Arial"/>
                <a:cs typeface="Arial"/>
              </a:rPr>
              <a:t>KOL</a:t>
            </a:r>
            <a:r>
              <a:rPr sz="1250" b="1" spc="-55" dirty="0">
                <a:solidFill>
                  <a:srgbClr val="8C8A8A"/>
                </a:solidFill>
                <a:latin typeface="Arial"/>
                <a:cs typeface="Arial"/>
              </a:rPr>
              <a:t>-</a:t>
            </a:r>
            <a:r>
              <a:rPr sz="1250" b="1" spc="-45" dirty="0">
                <a:solidFill>
                  <a:srgbClr val="6D6E72"/>
                </a:solidFill>
                <a:latin typeface="Arial"/>
                <a:cs typeface="Arial"/>
              </a:rPr>
              <a:t>42</a:t>
            </a:r>
            <a:r>
              <a:rPr sz="1250" b="1" spc="-45" dirty="0">
                <a:solidFill>
                  <a:srgbClr val="525962"/>
                </a:solidFill>
                <a:latin typeface="Arial"/>
                <a:cs typeface="Arial"/>
              </a:rPr>
              <a:t>V</a:t>
            </a:r>
            <a:r>
              <a:rPr sz="1250" b="1" spc="-45" dirty="0">
                <a:solidFill>
                  <a:srgbClr val="6D6E72"/>
                </a:solidFill>
                <a:latin typeface="Arial"/>
                <a:cs typeface="Arial"/>
              </a:rPr>
              <a:t>4</a:t>
            </a:r>
            <a:r>
              <a:rPr sz="1250" b="1" spc="-45" dirty="0">
                <a:solidFill>
                  <a:srgbClr val="525962"/>
                </a:solidFill>
                <a:latin typeface="Arial"/>
                <a:cs typeface="Arial"/>
              </a:rPr>
              <a:t>1</a:t>
            </a:r>
            <a:r>
              <a:rPr sz="1250" b="1" spc="-45" dirty="0">
                <a:solidFill>
                  <a:srgbClr val="6D6E72"/>
                </a:solidFill>
                <a:latin typeface="Arial"/>
                <a:cs typeface="Arial"/>
              </a:rPr>
              <a:t>00 </a:t>
            </a:r>
            <a:r>
              <a:rPr sz="1250" b="1" spc="-140" dirty="0">
                <a:solidFill>
                  <a:srgbClr val="6D6E72"/>
                </a:solidFill>
                <a:latin typeface="Arial"/>
                <a:cs typeface="Arial"/>
              </a:rPr>
              <a:t>LG</a:t>
            </a:r>
            <a:r>
              <a:rPr sz="1250" b="1" spc="-7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42PQ60</a:t>
            </a:r>
            <a:endParaRPr sz="1250">
              <a:latin typeface="Arial"/>
              <a:cs typeface="Arial"/>
            </a:endParaRPr>
          </a:p>
          <a:p>
            <a:pPr marL="41910" marR="29845" indent="7620">
              <a:lnSpc>
                <a:spcPct val="140600"/>
              </a:lnSpc>
              <a:spcBef>
                <a:spcPts val="60"/>
              </a:spcBef>
            </a:pPr>
            <a:r>
              <a:rPr sz="1250" b="1" spc="-75" dirty="0">
                <a:solidFill>
                  <a:srgbClr val="6D6E72"/>
                </a:solidFill>
                <a:latin typeface="Arial"/>
                <a:cs typeface="Arial"/>
              </a:rPr>
              <a:t>Sharp</a:t>
            </a:r>
            <a:r>
              <a:rPr sz="1250" b="1" spc="-70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LC46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0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65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U </a:t>
            </a:r>
            <a:r>
              <a:rPr sz="1250" b="1" spc="-65" dirty="0">
                <a:solidFill>
                  <a:srgbClr val="6D6E72"/>
                </a:solidFill>
                <a:latin typeface="Arial"/>
                <a:cs typeface="Arial"/>
              </a:rPr>
              <a:t>Sanlsu</a:t>
            </a:r>
            <a:r>
              <a:rPr sz="1250" b="1" spc="-65" dirty="0">
                <a:solidFill>
                  <a:srgbClr val="525962"/>
                </a:solidFill>
                <a:latin typeface="Arial"/>
                <a:cs typeface="Arial"/>
              </a:rPr>
              <a:t>n</a:t>
            </a:r>
            <a:r>
              <a:rPr sz="1250" b="1" spc="-65" dirty="0">
                <a:solidFill>
                  <a:srgbClr val="6D6E72"/>
                </a:solidFill>
                <a:latin typeface="Arial"/>
                <a:cs typeface="Arial"/>
              </a:rPr>
              <a:t>g</a:t>
            </a:r>
            <a:r>
              <a:rPr sz="1250" b="1" spc="-17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LN46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A7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50 </a:t>
            </a:r>
            <a:r>
              <a:rPr sz="1250" b="1" spc="-35" dirty="0">
                <a:solidFill>
                  <a:srgbClr val="6D6E72"/>
                </a:solidFill>
                <a:latin typeface="Arial"/>
                <a:cs typeface="Arial"/>
              </a:rPr>
              <a:t>App</a:t>
            </a:r>
            <a:r>
              <a:rPr sz="1250" b="1" spc="-35" dirty="0">
                <a:solidFill>
                  <a:srgbClr val="525962"/>
                </a:solidFill>
                <a:latin typeface="Arial"/>
                <a:cs typeface="Arial"/>
              </a:rPr>
              <a:t>l</a:t>
            </a:r>
            <a:r>
              <a:rPr sz="1250" b="1" spc="-35" dirty="0">
                <a:solidFill>
                  <a:srgbClr val="6D6E72"/>
                </a:solidFill>
                <a:latin typeface="Arial"/>
                <a:cs typeface="Arial"/>
              </a:rPr>
              <a:t>e</a:t>
            </a:r>
            <a:r>
              <a:rPr sz="1250" b="1" spc="-35" dirty="0">
                <a:solidFill>
                  <a:srgbClr val="525962"/>
                </a:solidFill>
                <a:latin typeface="Arial"/>
                <a:cs typeface="Arial"/>
              </a:rPr>
              <a:t>i</a:t>
            </a:r>
            <a:r>
              <a:rPr sz="1250" b="1" spc="-35" dirty="0">
                <a:solidFill>
                  <a:srgbClr val="6D6E72"/>
                </a:solidFill>
                <a:latin typeface="Arial"/>
                <a:cs typeface="Arial"/>
              </a:rPr>
              <a:t>Pod</a:t>
            </a:r>
            <a:r>
              <a:rPr sz="1250" b="1" spc="-90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50" dirty="0">
                <a:solidFill>
                  <a:srgbClr val="6D6E72"/>
                </a:solidFill>
                <a:latin typeface="Arial"/>
                <a:cs typeface="Arial"/>
              </a:rPr>
              <a:t>Class</a:t>
            </a:r>
            <a:r>
              <a:rPr sz="1250" b="1" spc="-50" dirty="0">
                <a:solidFill>
                  <a:srgbClr val="525962"/>
                </a:solidFill>
                <a:latin typeface="Arial"/>
                <a:cs typeface="Arial"/>
              </a:rPr>
              <a:t>i</a:t>
            </a:r>
            <a:r>
              <a:rPr sz="1250" b="1" spc="-50" dirty="0">
                <a:solidFill>
                  <a:srgbClr val="6D6E72"/>
                </a:solidFill>
                <a:latin typeface="Arial"/>
                <a:cs typeface="Arial"/>
              </a:rPr>
              <a:t>c120</a:t>
            </a:r>
            <a:r>
              <a:rPr sz="1250" b="1" spc="-120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250" b="1" spc="-55" dirty="0">
                <a:solidFill>
                  <a:srgbClr val="6D6E72"/>
                </a:solidFill>
                <a:latin typeface="Arial"/>
                <a:cs typeface="Arial"/>
              </a:rPr>
              <a:t>GB</a:t>
            </a:r>
            <a:endParaRPr sz="1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345028" y="5414035"/>
            <a:ext cx="607060" cy="170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5080" indent="-38735">
              <a:lnSpc>
                <a:spcPct val="157100"/>
              </a:lnSpc>
              <a:spcBef>
                <a:spcPts val="95"/>
              </a:spcBef>
            </a:pPr>
            <a:r>
              <a:rPr sz="1250" b="1" spc="-25" dirty="0">
                <a:solidFill>
                  <a:srgbClr val="AAAAAA"/>
                </a:solidFill>
                <a:latin typeface="Arial"/>
                <a:cs typeface="Arial"/>
              </a:rPr>
              <a:t>SKU 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789451</a:t>
            </a:r>
            <a:endParaRPr sz="12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45"/>
              </a:spcBef>
            </a:pP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874842</a:t>
            </a:r>
            <a:endParaRPr sz="12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70"/>
              </a:spcBef>
            </a:pP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874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1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01</a:t>
            </a:r>
            <a:endParaRPr sz="125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spcBef>
                <a:spcPts val="610"/>
              </a:spcBef>
            </a:pP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7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11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238</a:t>
            </a:r>
            <a:endParaRPr sz="12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70"/>
              </a:spcBef>
            </a:pP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6</a:t>
            </a:r>
            <a:r>
              <a:rPr sz="1250" b="1" spc="-10" dirty="0">
                <a:solidFill>
                  <a:srgbClr val="525962"/>
                </a:solidFill>
                <a:latin typeface="Arial"/>
                <a:cs typeface="Arial"/>
              </a:rPr>
              <a:t>11</a:t>
            </a:r>
            <a:r>
              <a:rPr sz="1250" b="1" spc="-10" dirty="0">
                <a:solidFill>
                  <a:srgbClr val="6D6E72"/>
                </a:solidFill>
                <a:latin typeface="Arial"/>
                <a:cs typeface="Arial"/>
              </a:rPr>
              <a:t>235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492659" y="5457923"/>
            <a:ext cx="546100" cy="13804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100" dirty="0">
                <a:solidFill>
                  <a:srgbClr val="AAAAAA"/>
                </a:solidFill>
                <a:latin typeface="Arial"/>
                <a:cs typeface="Arial"/>
              </a:rPr>
              <a:t>'"'</a:t>
            </a:r>
            <a:r>
              <a:rPr sz="1100" spc="10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AAAAAA"/>
                </a:solidFill>
                <a:latin typeface="Arial"/>
                <a:cs typeface="Arial"/>
              </a:rPr>
              <a:t>Stodc</a:t>
            </a:r>
            <a:endParaRPr sz="1100">
              <a:latin typeface="Arial"/>
              <a:cs typeface="Arial"/>
            </a:endParaRPr>
          </a:p>
          <a:p>
            <a:pPr marL="53340">
              <a:lnSpc>
                <a:spcPct val="100000"/>
              </a:lnSpc>
              <a:spcBef>
                <a:spcPts val="825"/>
              </a:spcBef>
            </a:pPr>
            <a:r>
              <a:rPr sz="1250" b="1" spc="-25" dirty="0">
                <a:solidFill>
                  <a:srgbClr val="525962"/>
                </a:solidFill>
                <a:latin typeface="Arial"/>
                <a:cs typeface="Arial"/>
              </a:rPr>
              <a:t>1</a:t>
            </a:r>
            <a:r>
              <a:rPr sz="1250" b="1" spc="-25" dirty="0">
                <a:solidFill>
                  <a:srgbClr val="6D6E72"/>
                </a:solidFill>
                <a:latin typeface="Arial"/>
                <a:cs typeface="Arial"/>
              </a:rPr>
              <a:t>06</a:t>
            </a:r>
            <a:endParaRPr sz="1250">
              <a:latin typeface="Arial"/>
              <a:cs typeface="Arial"/>
            </a:endParaRPr>
          </a:p>
          <a:p>
            <a:pPr marL="45085">
              <a:lnSpc>
                <a:spcPct val="100000"/>
              </a:lnSpc>
              <a:spcBef>
                <a:spcPts val="550"/>
              </a:spcBef>
            </a:pPr>
            <a:r>
              <a:rPr sz="1250" b="1" spc="30" dirty="0">
                <a:solidFill>
                  <a:srgbClr val="525962"/>
                </a:solidFill>
                <a:latin typeface="Arial"/>
                <a:cs typeface="Arial"/>
              </a:rPr>
              <a:t>1</a:t>
            </a:r>
            <a:r>
              <a:rPr sz="1250" b="1" spc="30" dirty="0">
                <a:solidFill>
                  <a:srgbClr val="6D6E72"/>
                </a:solidFill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670"/>
              </a:spcBef>
            </a:pPr>
            <a:r>
              <a:rPr sz="1250" b="1" spc="-50" dirty="0">
                <a:solidFill>
                  <a:srgbClr val="6D6E72"/>
                </a:solidFill>
                <a:latin typeface="Arial"/>
                <a:cs typeface="Arial"/>
              </a:rPr>
              <a:t>8</a:t>
            </a:r>
            <a:endParaRPr sz="12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705"/>
              </a:spcBef>
            </a:pPr>
            <a:r>
              <a:rPr sz="1150" b="1" spc="-25" dirty="0">
                <a:solidFill>
                  <a:srgbClr val="6D6E72"/>
                </a:solidFill>
                <a:latin typeface="Arial"/>
                <a:cs typeface="Arial"/>
              </a:rPr>
              <a:t>87</a:t>
            </a:r>
            <a:endParaRPr sz="11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891322" y="3153128"/>
            <a:ext cx="1724660" cy="164973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3175">
              <a:lnSpc>
                <a:spcPct val="103299"/>
              </a:lnSpc>
              <a:spcBef>
                <a:spcPts val="20"/>
              </a:spcBef>
            </a:pPr>
            <a:r>
              <a:rPr sz="2400" b="1" spc="-10" dirty="0">
                <a:solidFill>
                  <a:srgbClr val="0E1626"/>
                </a:solidFill>
                <a:latin typeface="Arial"/>
                <a:cs typeface="Arial"/>
              </a:rPr>
              <a:t>Shipping </a:t>
            </a:r>
            <a:r>
              <a:rPr sz="2400" b="1" spc="45" dirty="0">
                <a:solidFill>
                  <a:srgbClr val="0E1626"/>
                </a:solidFill>
                <a:latin typeface="Arial"/>
                <a:cs typeface="Arial"/>
              </a:rPr>
              <a:t>Delay </a:t>
            </a:r>
            <a:r>
              <a:rPr sz="2400" b="1" spc="-10" dirty="0">
                <a:solidFill>
                  <a:srgbClr val="0E1626"/>
                </a:solidFill>
                <a:latin typeface="Arial"/>
                <a:cs typeface="Arial"/>
              </a:rPr>
              <a:t>Correlation</a:t>
            </a:r>
            <a:endParaRPr sz="2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650"/>
              </a:spcBef>
            </a:pPr>
            <a:r>
              <a:rPr sz="1900" spc="65" dirty="0">
                <a:solidFill>
                  <a:srgbClr val="525962"/>
                </a:solidFill>
                <a:latin typeface="Arial"/>
                <a:cs typeface="Arial"/>
              </a:rPr>
              <a:t>Orders</a:t>
            </a:r>
            <a:endParaRPr sz="1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870697" y="4800574"/>
            <a:ext cx="1778635" cy="28371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9370" marR="48260" indent="-1270" algn="just">
              <a:lnSpc>
                <a:spcPct val="119700"/>
              </a:lnSpc>
              <a:spcBef>
                <a:spcPts val="30"/>
              </a:spcBef>
            </a:pPr>
            <a:r>
              <a:rPr sz="1900" spc="85" dirty="0">
                <a:solidFill>
                  <a:srgbClr val="525962"/>
                </a:solidFill>
                <a:latin typeface="Arial"/>
                <a:cs typeface="Arial"/>
              </a:rPr>
              <a:t>exceed</a:t>
            </a:r>
            <a:r>
              <a:rPr sz="1900" spc="85" dirty="0">
                <a:solidFill>
                  <a:srgbClr val="6D6E72"/>
                </a:solidFill>
                <a:latin typeface="Arial"/>
                <a:cs typeface="Arial"/>
              </a:rPr>
              <a:t>i</a:t>
            </a:r>
            <a:r>
              <a:rPr sz="1900" spc="85" dirty="0">
                <a:solidFill>
                  <a:srgbClr val="525962"/>
                </a:solidFill>
                <a:latin typeface="Arial"/>
                <a:cs typeface="Arial"/>
              </a:rPr>
              <a:t>ng</a:t>
            </a:r>
            <a:r>
              <a:rPr sz="1900" spc="195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45" dirty="0">
                <a:solidFill>
                  <a:srgbClr val="525962"/>
                </a:solidFill>
                <a:latin typeface="Arial"/>
                <a:cs typeface="Arial"/>
              </a:rPr>
              <a:t>the </a:t>
            </a:r>
            <a:r>
              <a:rPr sz="1900" spc="90" dirty="0">
                <a:solidFill>
                  <a:srgbClr val="525962"/>
                </a:solidFill>
                <a:latin typeface="Arial"/>
                <a:cs typeface="Arial"/>
              </a:rPr>
              <a:t>delivery</a:t>
            </a:r>
            <a:r>
              <a:rPr sz="1900" spc="160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525962"/>
                </a:solidFill>
                <a:latin typeface="Arial"/>
                <a:cs typeface="Arial"/>
              </a:rPr>
              <a:t>fence </a:t>
            </a:r>
            <a:r>
              <a:rPr sz="1900" spc="100" dirty="0">
                <a:solidFill>
                  <a:srgbClr val="525962"/>
                </a:solidFill>
                <a:latin typeface="Arial"/>
                <a:cs typeface="Arial"/>
              </a:rPr>
              <a:t>(&gt;8</a:t>
            </a:r>
            <a:r>
              <a:rPr sz="1900" spc="225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525962"/>
                </a:solidFill>
                <a:latin typeface="Arial"/>
                <a:cs typeface="Arial"/>
              </a:rPr>
              <a:t>days)</a:t>
            </a:r>
            <a:endParaRPr sz="1900">
              <a:latin typeface="Arial"/>
              <a:cs typeface="Arial"/>
            </a:endParaRPr>
          </a:p>
          <a:p>
            <a:pPr marL="39370" marR="30480" algn="just">
              <a:lnSpc>
                <a:spcPct val="119700"/>
              </a:lnSpc>
              <a:spcBef>
                <a:spcPts val="125"/>
              </a:spcBef>
            </a:pPr>
            <a:r>
              <a:rPr sz="1900" spc="70" dirty="0">
                <a:solidFill>
                  <a:srgbClr val="525962"/>
                </a:solidFill>
                <a:latin typeface="Arial"/>
                <a:cs typeface="Arial"/>
              </a:rPr>
              <a:t>demonstrate</a:t>
            </a:r>
            <a:r>
              <a:rPr sz="1900" spc="229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10" dirty="0">
                <a:solidFill>
                  <a:srgbClr val="525962"/>
                </a:solidFill>
                <a:latin typeface="Arial"/>
                <a:cs typeface="Arial"/>
              </a:rPr>
              <a:t>a </a:t>
            </a:r>
            <a:r>
              <a:rPr sz="1900" spc="70" dirty="0">
                <a:solidFill>
                  <a:srgbClr val="525962"/>
                </a:solidFill>
                <a:latin typeface="Arial"/>
                <a:cs typeface="Arial"/>
              </a:rPr>
              <a:t>noticeable</a:t>
            </a:r>
            <a:endParaRPr sz="1900">
              <a:latin typeface="Arial"/>
              <a:cs typeface="Arial"/>
            </a:endParaRPr>
          </a:p>
          <a:p>
            <a:pPr marL="38100" marR="186055" indent="1270">
              <a:lnSpc>
                <a:spcPct val="122400"/>
              </a:lnSpc>
              <a:spcBef>
                <a:spcPts val="60"/>
              </a:spcBef>
            </a:pPr>
            <a:r>
              <a:rPr sz="1900" spc="-229" dirty="0">
                <a:solidFill>
                  <a:srgbClr val="525962"/>
                </a:solidFill>
                <a:latin typeface="Arial"/>
                <a:cs typeface="Arial"/>
              </a:rPr>
              <a:t>i</a:t>
            </a:r>
            <a:r>
              <a:rPr sz="1500" spc="-345" baseline="61111" dirty="0">
                <a:solidFill>
                  <a:srgbClr val="6D6E72"/>
                </a:solidFill>
                <a:latin typeface="Arial"/>
                <a:cs typeface="Arial"/>
              </a:rPr>
              <a:t>•</a:t>
            </a:r>
            <a:r>
              <a:rPr sz="1500" spc="-232" baseline="61111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525962"/>
                </a:solidFill>
                <a:latin typeface="Arial"/>
                <a:cs typeface="Arial"/>
              </a:rPr>
              <a:t>ncrease</a:t>
            </a:r>
            <a:r>
              <a:rPr sz="1900" spc="75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-980" dirty="0">
                <a:solidFill>
                  <a:srgbClr val="525962"/>
                </a:solidFill>
                <a:latin typeface="Arial"/>
                <a:cs typeface="Arial"/>
              </a:rPr>
              <a:t>1</a:t>
            </a:r>
            <a:r>
              <a:rPr sz="1275" spc="-37" baseline="71895" dirty="0">
                <a:solidFill>
                  <a:srgbClr val="6D6E72"/>
                </a:solidFill>
                <a:latin typeface="Arial"/>
                <a:cs typeface="Arial"/>
              </a:rPr>
              <a:t>•</a:t>
            </a:r>
            <a:r>
              <a:rPr sz="1275" spc="405" baseline="71895" dirty="0">
                <a:solidFill>
                  <a:srgbClr val="6D6E72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525962"/>
                </a:solidFill>
                <a:latin typeface="Arial"/>
                <a:cs typeface="Arial"/>
              </a:rPr>
              <a:t>n </a:t>
            </a:r>
            <a:r>
              <a:rPr sz="1900" spc="75" dirty="0">
                <a:solidFill>
                  <a:srgbClr val="525962"/>
                </a:solidFill>
                <a:latin typeface="Arial"/>
                <a:cs typeface="Arial"/>
              </a:rPr>
              <a:t>customer return</a:t>
            </a:r>
            <a:r>
              <a:rPr sz="1900" spc="45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525962"/>
                </a:solidFill>
                <a:latin typeface="Arial"/>
                <a:cs typeface="Arial"/>
              </a:rPr>
              <a:t>status</a:t>
            </a:r>
            <a:r>
              <a:rPr sz="1900" spc="50" dirty="0">
                <a:solidFill>
                  <a:srgbClr val="6D6E72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00105" y="7303242"/>
            <a:ext cx="265620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0" dirty="0">
                <a:solidFill>
                  <a:srgbClr val="6D6E72"/>
                </a:solidFill>
                <a:latin typeface="Arial"/>
                <a:cs typeface="Arial"/>
              </a:rPr>
              <a:t>Globa</a:t>
            </a:r>
            <a:r>
              <a:rPr sz="1600" spc="-40" dirty="0">
                <a:solidFill>
                  <a:srgbClr val="8C8A8A"/>
                </a:solidFill>
                <a:latin typeface="Arial"/>
                <a:cs typeface="Arial"/>
              </a:rPr>
              <a:t>l</a:t>
            </a:r>
            <a:r>
              <a:rPr sz="1600" spc="-5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25962"/>
                </a:solidFill>
                <a:latin typeface="Arial"/>
                <a:cs typeface="Arial"/>
              </a:rPr>
              <a:t>F</a:t>
            </a:r>
            <a:r>
              <a:rPr sz="1600" spc="-25" dirty="0">
                <a:solidFill>
                  <a:srgbClr val="6D6E72"/>
                </a:solidFill>
                <a:latin typeface="Arial"/>
                <a:cs typeface="Arial"/>
              </a:rPr>
              <a:t>inancia</a:t>
            </a:r>
            <a:r>
              <a:rPr sz="1600" spc="-25" dirty="0">
                <a:solidFill>
                  <a:srgbClr val="805B54"/>
                </a:solidFill>
                <a:latin typeface="Arial"/>
                <a:cs typeface="Arial"/>
              </a:rPr>
              <a:t>l</a:t>
            </a:r>
            <a:r>
              <a:rPr sz="1600" spc="-50" dirty="0">
                <a:solidFill>
                  <a:srgbClr val="805B5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25962"/>
                </a:solidFill>
                <a:latin typeface="Arial"/>
                <a:cs typeface="Arial"/>
              </a:rPr>
              <a:t>P</a:t>
            </a:r>
            <a:r>
              <a:rPr sz="1600" spc="-10" dirty="0">
                <a:solidFill>
                  <a:srgbClr val="6D6E72"/>
                </a:solidFill>
                <a:latin typeface="Arial"/>
                <a:cs typeface="Arial"/>
              </a:rPr>
              <a:t>er</a:t>
            </a:r>
            <a:r>
              <a:rPr sz="1600" spc="-10" dirty="0">
                <a:solidFill>
                  <a:srgbClr val="525962"/>
                </a:solidFill>
                <a:latin typeface="Arial"/>
                <a:cs typeface="Arial"/>
              </a:rPr>
              <a:t>f</a:t>
            </a:r>
            <a:r>
              <a:rPr sz="1600" spc="-10" dirty="0">
                <a:solidFill>
                  <a:srgbClr val="6D6E72"/>
                </a:solidFill>
                <a:latin typeface="Arial"/>
                <a:cs typeface="Arial"/>
              </a:rPr>
              <a:t>o</a:t>
            </a:r>
            <a:r>
              <a:rPr sz="1600" spc="-10" dirty="0">
                <a:solidFill>
                  <a:srgbClr val="525962"/>
                </a:solidFill>
                <a:latin typeface="Arial"/>
                <a:cs typeface="Arial"/>
              </a:rPr>
              <a:t>r</a:t>
            </a:r>
            <a:r>
              <a:rPr sz="1600" spc="-10" dirty="0">
                <a:solidFill>
                  <a:srgbClr val="6D6E72"/>
                </a:solidFill>
                <a:latin typeface="Arial"/>
                <a:cs typeface="Arial"/>
              </a:rPr>
              <a:t>mance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10286" y="7760778"/>
            <a:ext cx="2028825" cy="4984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455"/>
              </a:spcBef>
              <a:buClr>
                <a:srgbClr val="508CE1"/>
              </a:buClr>
              <a:buFont typeface="Arial"/>
              <a:buChar char="•"/>
              <a:tabLst>
                <a:tab pos="264795" algn="l"/>
              </a:tabLst>
            </a:pPr>
            <a:r>
              <a:rPr sz="1250" b="1" spc="-70" dirty="0">
                <a:solidFill>
                  <a:srgbClr val="8C8A8A"/>
                </a:solidFill>
                <a:latin typeface="Arial"/>
                <a:cs typeface="Arial"/>
              </a:rPr>
              <a:t>Cash-</a:t>
            </a:r>
            <a:r>
              <a:rPr sz="1250" b="1" spc="-55" dirty="0">
                <a:solidFill>
                  <a:srgbClr val="6D6E72"/>
                </a:solidFill>
                <a:latin typeface="Arial"/>
                <a:cs typeface="Arial"/>
              </a:rPr>
              <a:t>t</a:t>
            </a:r>
            <a:r>
              <a:rPr sz="1250" b="1" spc="-55" dirty="0">
                <a:solidFill>
                  <a:srgbClr val="8C8A8A"/>
                </a:solidFill>
                <a:latin typeface="Arial"/>
                <a:cs typeface="Arial"/>
              </a:rPr>
              <a:t>o-</a:t>
            </a:r>
            <a:r>
              <a:rPr sz="1250" b="1" spc="-80" dirty="0">
                <a:solidFill>
                  <a:srgbClr val="8C8A8A"/>
                </a:solidFill>
                <a:latin typeface="Arial"/>
                <a:cs typeface="Arial"/>
              </a:rPr>
              <a:t>Cash</a:t>
            </a:r>
            <a:r>
              <a:rPr sz="1250" b="1" spc="-14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55" dirty="0">
                <a:solidFill>
                  <a:srgbClr val="8C8A8A"/>
                </a:solidFill>
                <a:latin typeface="Arial"/>
                <a:cs typeface="Arial"/>
              </a:rPr>
              <a:t>Cycle</a:t>
            </a:r>
            <a:r>
              <a:rPr sz="1250" b="1" spc="4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Time</a:t>
            </a:r>
            <a:endParaRPr sz="1250">
              <a:latin typeface="Arial"/>
              <a:cs typeface="Arial"/>
            </a:endParaRPr>
          </a:p>
          <a:p>
            <a:pPr marL="256540" indent="-243840">
              <a:lnSpc>
                <a:spcPct val="100000"/>
              </a:lnSpc>
              <a:spcBef>
                <a:spcPts val="360"/>
              </a:spcBef>
              <a:buClr>
                <a:srgbClr val="DD4D54"/>
              </a:buClr>
              <a:buFont typeface="Arial"/>
              <a:buChar char="•"/>
              <a:tabLst>
                <a:tab pos="256540" algn="l"/>
              </a:tabLst>
            </a:pPr>
            <a:r>
              <a:rPr sz="1250" b="1" spc="-85" dirty="0">
                <a:solidFill>
                  <a:srgbClr val="8C8A8A"/>
                </a:solidFill>
                <a:latin typeface="Arial"/>
                <a:cs typeface="Arial"/>
              </a:rPr>
              <a:t>Accounts</a:t>
            </a:r>
            <a:r>
              <a:rPr sz="1250" b="1" spc="6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70" dirty="0">
                <a:solidFill>
                  <a:srgbClr val="8C8A8A"/>
                </a:solidFill>
                <a:latin typeface="Arial"/>
                <a:cs typeface="Arial"/>
              </a:rPr>
              <a:t>Payable</a:t>
            </a:r>
            <a:r>
              <a:rPr sz="1250" b="1" spc="1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Days</a:t>
            </a:r>
            <a:endParaRPr sz="12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07247" y="8334864"/>
            <a:ext cx="17208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5" dirty="0">
                <a:solidFill>
                  <a:srgbClr val="8C8A8A"/>
                </a:solidFill>
                <a:latin typeface="Arial"/>
                <a:cs typeface="Arial"/>
              </a:rPr>
              <a:t>60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00215" y="8893988"/>
            <a:ext cx="21907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b="1" spc="-25" dirty="0">
                <a:solidFill>
                  <a:srgbClr val="6D6E72"/>
                </a:solidFill>
                <a:latin typeface="Courier New"/>
                <a:cs typeface="Courier New"/>
              </a:rPr>
              <a:t>4</a:t>
            </a:r>
            <a:r>
              <a:rPr sz="1350" b="1" spc="-25" dirty="0">
                <a:solidFill>
                  <a:srgbClr val="8C8A8A"/>
                </a:solidFill>
                <a:latin typeface="Courier New"/>
                <a:cs typeface="Courier New"/>
              </a:rPr>
              <a:t>0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09654" y="9516110"/>
            <a:ext cx="19875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35" dirty="0">
                <a:solidFill>
                  <a:srgbClr val="8C8A8A"/>
                </a:solidFill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64303" y="7803302"/>
            <a:ext cx="160782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2415" indent="-259715">
              <a:lnSpc>
                <a:spcPct val="100000"/>
              </a:lnSpc>
              <a:spcBef>
                <a:spcPts val="120"/>
              </a:spcBef>
              <a:buClr>
                <a:srgbClr val="72AE7C"/>
              </a:buClr>
              <a:buFont typeface="Arial"/>
              <a:buChar char="•"/>
              <a:tabLst>
                <a:tab pos="272415" algn="l"/>
              </a:tabLst>
            </a:pPr>
            <a:r>
              <a:rPr sz="1250" b="1" spc="-95" dirty="0">
                <a:solidFill>
                  <a:srgbClr val="8C8A8A"/>
                </a:solidFill>
                <a:latin typeface="Arial"/>
                <a:cs typeface="Arial"/>
              </a:rPr>
              <a:t>Account</a:t>
            </a:r>
            <a:r>
              <a:rPr sz="1250" b="1" spc="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8C8A8A"/>
                </a:solidFill>
                <a:latin typeface="Arial"/>
                <a:cs typeface="Arial"/>
              </a:rPr>
              <a:t>Rec</a:t>
            </a:r>
            <a:r>
              <a:rPr sz="1250" b="1" spc="22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30" dirty="0">
                <a:solidFill>
                  <a:srgbClr val="8C8A8A"/>
                </a:solidFill>
                <a:latin typeface="Arial"/>
                <a:cs typeface="Arial"/>
              </a:rPr>
              <a:t>Days</a:t>
            </a:r>
            <a:endParaRPr sz="12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93585" y="7803302"/>
            <a:ext cx="132461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120"/>
              </a:spcBef>
              <a:buClr>
                <a:srgbClr val="E1953A"/>
              </a:buClr>
              <a:buFont typeface="Arial"/>
              <a:buChar char="•"/>
              <a:tabLst>
                <a:tab pos="277495" algn="l"/>
              </a:tabLst>
            </a:pPr>
            <a:r>
              <a:rPr sz="1250" b="1" spc="-40" dirty="0">
                <a:solidFill>
                  <a:srgbClr val="8C8A8A"/>
                </a:solidFill>
                <a:latin typeface="Arial"/>
                <a:cs typeface="Arial"/>
              </a:rPr>
              <a:t>Inven</a:t>
            </a:r>
            <a:r>
              <a:rPr sz="1250" b="1" spc="-40" dirty="0">
                <a:solidFill>
                  <a:srgbClr val="6D6E72"/>
                </a:solidFill>
                <a:latin typeface="Arial"/>
                <a:cs typeface="Arial"/>
              </a:rPr>
              <a:t>t</a:t>
            </a:r>
            <a:r>
              <a:rPr sz="1250" b="1" spc="-40" dirty="0">
                <a:solidFill>
                  <a:srgbClr val="8C8A8A"/>
                </a:solidFill>
                <a:latin typeface="Arial"/>
                <a:cs typeface="Arial"/>
              </a:rPr>
              <a:t>oryDays</a:t>
            </a:r>
            <a:endParaRPr sz="1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602779" y="8157677"/>
            <a:ext cx="1455420" cy="746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4795" indent="-252095">
              <a:lnSpc>
                <a:spcPts val="1400"/>
              </a:lnSpc>
              <a:spcBef>
                <a:spcPts val="120"/>
              </a:spcBef>
              <a:buClr>
                <a:srgbClr val="508CE1"/>
              </a:buClr>
              <a:buFont typeface="Arial"/>
              <a:buChar char="•"/>
              <a:tabLst>
                <a:tab pos="264795" algn="l"/>
              </a:tabLst>
            </a:pPr>
            <a:r>
              <a:rPr sz="1250" b="1" spc="-80" dirty="0">
                <a:solidFill>
                  <a:srgbClr val="8C8A8A"/>
                </a:solidFill>
                <a:latin typeface="Arial"/>
                <a:cs typeface="Arial"/>
              </a:rPr>
              <a:t>Appliances</a:t>
            </a:r>
            <a:r>
              <a:rPr sz="1250" b="1" spc="2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AAAAAA"/>
                </a:solidFill>
                <a:latin typeface="Arial"/>
                <a:cs typeface="Arial"/>
              </a:rPr>
              <a:t>(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89</a:t>
            </a:r>
            <a:r>
              <a:rPr sz="1250" b="1" spc="-20" dirty="0">
                <a:solidFill>
                  <a:srgbClr val="AAAAAA"/>
                </a:solidFill>
                <a:latin typeface="Arial"/>
                <a:cs typeface="Arial"/>
              </a:rPr>
              <a:t>)</a:t>
            </a:r>
            <a:endParaRPr sz="1250">
              <a:latin typeface="Arial"/>
              <a:cs typeface="Arial"/>
            </a:endParaRPr>
          </a:p>
          <a:p>
            <a:pPr marL="264795" marR="5080" indent="-635">
              <a:lnSpc>
                <a:spcPts val="1360"/>
              </a:lnSpc>
              <a:spcBef>
                <a:spcPts val="65"/>
              </a:spcBef>
            </a:pPr>
            <a:r>
              <a:rPr sz="1250" b="1" spc="-80" dirty="0">
                <a:solidFill>
                  <a:srgbClr val="8C8A8A"/>
                </a:solidFill>
                <a:latin typeface="Arial"/>
                <a:cs typeface="Arial"/>
              </a:rPr>
              <a:t>Au</a:t>
            </a:r>
            <a:r>
              <a:rPr sz="1250" b="1" spc="-80" dirty="0">
                <a:solidFill>
                  <a:srgbClr val="6D6E72"/>
                </a:solidFill>
                <a:latin typeface="Arial"/>
                <a:cs typeface="Arial"/>
              </a:rPr>
              <a:t>t</a:t>
            </a:r>
            <a:r>
              <a:rPr sz="1250" b="1" spc="-80" dirty="0">
                <a:solidFill>
                  <a:srgbClr val="8C8A8A"/>
                </a:solidFill>
                <a:latin typeface="Arial"/>
                <a:cs typeface="Arial"/>
              </a:rPr>
              <a:t>omo</a:t>
            </a:r>
            <a:r>
              <a:rPr sz="1250" b="1" spc="-80" dirty="0">
                <a:solidFill>
                  <a:srgbClr val="6D6E72"/>
                </a:solidFill>
                <a:latin typeface="Arial"/>
                <a:cs typeface="Arial"/>
              </a:rPr>
              <a:t>t</a:t>
            </a:r>
            <a:r>
              <a:rPr sz="1250" b="1" spc="-80" dirty="0">
                <a:solidFill>
                  <a:srgbClr val="8C8A8A"/>
                </a:solidFill>
                <a:latin typeface="Arial"/>
                <a:cs typeface="Arial"/>
              </a:rPr>
              <a:t>ive</a:t>
            </a:r>
            <a:r>
              <a:rPr sz="1250" b="1" spc="-45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(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36</a:t>
            </a:r>
            <a:r>
              <a:rPr sz="1250" b="1" spc="-20" dirty="0">
                <a:solidFill>
                  <a:srgbClr val="AAAAAA"/>
                </a:solidFill>
                <a:latin typeface="Arial"/>
                <a:cs typeface="Arial"/>
              </a:rPr>
              <a:t>) </a:t>
            </a:r>
            <a:r>
              <a:rPr sz="1250" b="1" spc="-30" dirty="0">
                <a:solidFill>
                  <a:srgbClr val="8C8A8A"/>
                </a:solidFill>
                <a:latin typeface="Arial"/>
                <a:cs typeface="Arial"/>
              </a:rPr>
              <a:t>Compu</a:t>
            </a:r>
            <a:r>
              <a:rPr sz="1250" b="1" spc="-30" dirty="0">
                <a:solidFill>
                  <a:srgbClr val="6D6E72"/>
                </a:solidFill>
                <a:latin typeface="Arial"/>
                <a:cs typeface="Arial"/>
              </a:rPr>
              <a:t>t</a:t>
            </a:r>
            <a:r>
              <a:rPr sz="1250" b="1" spc="-30" dirty="0">
                <a:solidFill>
                  <a:srgbClr val="8C8A8A"/>
                </a:solidFill>
                <a:latin typeface="Arial"/>
                <a:cs typeface="Arial"/>
              </a:rPr>
              <a:t>ers</a:t>
            </a:r>
            <a:r>
              <a:rPr sz="1250" b="1" spc="-30" dirty="0">
                <a:solidFill>
                  <a:srgbClr val="AAAAAA"/>
                </a:solidFill>
                <a:latin typeface="Arial"/>
                <a:cs typeface="Arial"/>
              </a:rPr>
              <a:t>(</a:t>
            </a:r>
            <a:r>
              <a:rPr sz="1250" b="1" spc="-30" dirty="0">
                <a:solidFill>
                  <a:srgbClr val="8C8A8A"/>
                </a:solidFill>
                <a:latin typeface="Arial"/>
                <a:cs typeface="Arial"/>
              </a:rPr>
              <a:t>40</a:t>
            </a:r>
            <a:r>
              <a:rPr sz="1250" b="1" spc="-3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30" dirty="0">
                <a:solidFill>
                  <a:srgbClr val="AAAAAA"/>
                </a:solidFill>
                <a:latin typeface="Arial"/>
                <a:cs typeface="Arial"/>
              </a:rPr>
              <a:t>)</a:t>
            </a:r>
            <a:endParaRPr sz="1250">
              <a:latin typeface="Arial"/>
              <a:cs typeface="Arial"/>
            </a:endParaRPr>
          </a:p>
          <a:p>
            <a:pPr marL="260985" indent="-248285">
              <a:lnSpc>
                <a:spcPts val="1470"/>
              </a:lnSpc>
              <a:buClr>
                <a:srgbClr val="DD4D54"/>
              </a:buClr>
              <a:buFont typeface="Arial"/>
              <a:buChar char="•"/>
              <a:tabLst>
                <a:tab pos="260985" algn="l"/>
              </a:tabLst>
            </a:pPr>
            <a:r>
              <a:rPr sz="1250" b="1" spc="-65" dirty="0">
                <a:solidFill>
                  <a:srgbClr val="6D6E72"/>
                </a:solidFill>
                <a:latin typeface="Arial"/>
                <a:cs typeface="Arial"/>
              </a:rPr>
              <a:t>El</a:t>
            </a:r>
            <a:r>
              <a:rPr sz="1250" b="1" spc="-65" dirty="0">
                <a:solidFill>
                  <a:srgbClr val="8C8A8A"/>
                </a:solidFill>
                <a:latin typeface="Arial"/>
                <a:cs typeface="Arial"/>
              </a:rPr>
              <a:t>ec</a:t>
            </a:r>
            <a:r>
              <a:rPr sz="1250" b="1" spc="-65" dirty="0">
                <a:solidFill>
                  <a:srgbClr val="6D6E72"/>
                </a:solidFill>
                <a:latin typeface="Arial"/>
                <a:cs typeface="Arial"/>
              </a:rPr>
              <a:t>t</a:t>
            </a:r>
            <a:r>
              <a:rPr sz="1250" b="1" spc="-65" dirty="0">
                <a:solidFill>
                  <a:srgbClr val="8C8A8A"/>
                </a:solidFill>
                <a:latin typeface="Arial"/>
                <a:cs typeface="Arial"/>
              </a:rPr>
              <a:t>ronics</a:t>
            </a:r>
            <a:r>
              <a:rPr sz="1250" b="1" spc="-50" dirty="0">
                <a:solidFill>
                  <a:srgbClr val="8C8A8A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AAAAAA"/>
                </a:solidFill>
                <a:latin typeface="Arial"/>
                <a:cs typeface="Arial"/>
              </a:rPr>
              <a:t>(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5</a:t>
            </a:r>
            <a:r>
              <a:rPr sz="1250" b="1" spc="-20" dirty="0">
                <a:solidFill>
                  <a:srgbClr val="6D6E72"/>
                </a:solidFill>
                <a:latin typeface="Arial"/>
                <a:cs typeface="Arial"/>
              </a:rPr>
              <a:t>1</a:t>
            </a:r>
            <a:r>
              <a:rPr sz="1250" b="1" spc="-20" dirty="0">
                <a:solidFill>
                  <a:srgbClr val="8C8A8A"/>
                </a:solidFill>
                <a:latin typeface="Arial"/>
                <a:cs typeface="Arial"/>
              </a:rPr>
              <a:t>5</a:t>
            </a:r>
            <a:r>
              <a:rPr sz="1250" b="1" spc="-20" dirty="0">
                <a:solidFill>
                  <a:srgbClr val="AAAAAA"/>
                </a:solidFill>
                <a:latin typeface="Arial"/>
                <a:cs typeface="Arial"/>
              </a:rPr>
              <a:t>)</a:t>
            </a:r>
            <a:endParaRPr sz="12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886680" y="7860269"/>
            <a:ext cx="1567815" cy="31953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b="1" spc="70" dirty="0">
                <a:solidFill>
                  <a:srgbClr val="525962"/>
                </a:solidFill>
                <a:latin typeface="Arial"/>
                <a:cs typeface="Arial"/>
              </a:rPr>
              <a:t>Key</a:t>
            </a:r>
            <a:r>
              <a:rPr sz="2000" b="1" spc="-125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525962"/>
                </a:solidFill>
                <a:latin typeface="Arial"/>
                <a:cs typeface="Arial"/>
              </a:rPr>
              <a:t>Finding:</a:t>
            </a:r>
            <a:endParaRPr sz="19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370"/>
              </a:spcBef>
            </a:pPr>
            <a:r>
              <a:rPr sz="1900" spc="75" dirty="0">
                <a:solidFill>
                  <a:srgbClr val="525962"/>
                </a:solidFill>
                <a:latin typeface="Arial"/>
                <a:cs typeface="Arial"/>
              </a:rPr>
              <a:t>Longer</a:t>
            </a:r>
            <a:endParaRPr sz="1900">
              <a:latin typeface="Arial"/>
              <a:cs typeface="Arial"/>
            </a:endParaRPr>
          </a:p>
          <a:p>
            <a:pPr marL="21590" marR="168910" indent="-635">
              <a:lnSpc>
                <a:spcPct val="121500"/>
              </a:lnSpc>
              <a:spcBef>
                <a:spcPts val="140"/>
              </a:spcBef>
            </a:pPr>
            <a:r>
              <a:rPr sz="1900" spc="70" dirty="0">
                <a:solidFill>
                  <a:srgbClr val="525962"/>
                </a:solidFill>
                <a:latin typeface="Arial"/>
                <a:cs typeface="Arial"/>
              </a:rPr>
              <a:t>fulfillment </a:t>
            </a:r>
            <a:r>
              <a:rPr sz="1900" spc="65" dirty="0">
                <a:solidFill>
                  <a:srgbClr val="525962"/>
                </a:solidFill>
                <a:latin typeface="Arial"/>
                <a:cs typeface="Arial"/>
              </a:rPr>
              <a:t>lead</a:t>
            </a:r>
            <a:r>
              <a:rPr sz="1900" spc="110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525962"/>
                </a:solidFill>
                <a:latin typeface="Arial"/>
                <a:cs typeface="Arial"/>
              </a:rPr>
              <a:t>times </a:t>
            </a:r>
            <a:r>
              <a:rPr sz="1900" spc="85" dirty="0">
                <a:solidFill>
                  <a:srgbClr val="525962"/>
                </a:solidFill>
                <a:latin typeface="Arial"/>
                <a:cs typeface="Arial"/>
              </a:rPr>
              <a:t>directly </a:t>
            </a:r>
            <a:r>
              <a:rPr sz="1900" spc="80" dirty="0">
                <a:solidFill>
                  <a:srgbClr val="525962"/>
                </a:solidFill>
                <a:latin typeface="Arial"/>
                <a:cs typeface="Arial"/>
              </a:rPr>
              <a:t>reduce </a:t>
            </a:r>
            <a:r>
              <a:rPr sz="1900" spc="65" dirty="0">
                <a:solidFill>
                  <a:srgbClr val="525962"/>
                </a:solidFill>
                <a:latin typeface="Arial"/>
                <a:cs typeface="Arial"/>
              </a:rPr>
              <a:t>customer </a:t>
            </a:r>
            <a:r>
              <a:rPr sz="1900" spc="75" dirty="0">
                <a:solidFill>
                  <a:srgbClr val="525962"/>
                </a:solidFill>
                <a:latin typeface="Arial"/>
                <a:cs typeface="Arial"/>
              </a:rPr>
              <a:t>sat</a:t>
            </a:r>
            <a:r>
              <a:rPr sz="1900" spc="75" dirty="0">
                <a:solidFill>
                  <a:srgbClr val="6D6E72"/>
                </a:solidFill>
                <a:latin typeface="Arial"/>
                <a:cs typeface="Arial"/>
              </a:rPr>
              <a:t>i</a:t>
            </a:r>
            <a:r>
              <a:rPr sz="1900" spc="75" dirty="0">
                <a:solidFill>
                  <a:srgbClr val="525962"/>
                </a:solidFill>
                <a:latin typeface="Arial"/>
                <a:cs typeface="Arial"/>
              </a:rPr>
              <a:t>sfact</a:t>
            </a:r>
            <a:r>
              <a:rPr sz="1900" spc="75" dirty="0">
                <a:solidFill>
                  <a:srgbClr val="6D6E72"/>
                </a:solidFill>
                <a:latin typeface="Arial"/>
                <a:cs typeface="Arial"/>
              </a:rPr>
              <a:t>i</a:t>
            </a:r>
            <a:r>
              <a:rPr sz="1900" spc="75" dirty="0">
                <a:solidFill>
                  <a:srgbClr val="525962"/>
                </a:solidFill>
                <a:latin typeface="Arial"/>
                <a:cs typeface="Arial"/>
              </a:rPr>
              <a:t>on </a:t>
            </a:r>
            <a:r>
              <a:rPr sz="1900" spc="80" dirty="0">
                <a:solidFill>
                  <a:srgbClr val="525962"/>
                </a:solidFill>
                <a:latin typeface="Arial"/>
                <a:cs typeface="Arial"/>
              </a:rPr>
              <a:t>and</a:t>
            </a:r>
            <a:r>
              <a:rPr sz="1900" spc="100" dirty="0">
                <a:solidFill>
                  <a:srgbClr val="525962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525962"/>
                </a:solidFill>
                <a:latin typeface="Arial"/>
                <a:cs typeface="Arial"/>
              </a:rPr>
              <a:t>elevate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864" y="688259"/>
            <a:ext cx="317563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75" dirty="0">
                <a:solidFill>
                  <a:srgbClr val="6662E4"/>
                </a:solidFill>
                <a:latin typeface="Arial"/>
                <a:cs typeface="Arial"/>
              </a:rPr>
              <a:t>FEATURE</a:t>
            </a:r>
            <a:r>
              <a:rPr sz="1700" b="1" spc="295" dirty="0">
                <a:solidFill>
                  <a:srgbClr val="6662E4"/>
                </a:solidFill>
                <a:latin typeface="Arial"/>
                <a:cs typeface="Arial"/>
              </a:rPr>
              <a:t> </a:t>
            </a:r>
            <a:r>
              <a:rPr sz="1700" b="1" spc="110" dirty="0">
                <a:solidFill>
                  <a:srgbClr val="6662E4"/>
                </a:solidFill>
                <a:latin typeface="Arial"/>
                <a:cs typeface="Arial"/>
              </a:rPr>
              <a:t>RELATIONSHIPS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60" dirty="0">
                <a:solidFill>
                  <a:srgbClr val="0E1626"/>
                </a:solidFill>
              </a:rPr>
              <a:t>Pearson</a:t>
            </a:r>
            <a:r>
              <a:rPr spc="-160" dirty="0">
                <a:solidFill>
                  <a:srgbClr val="0E1626"/>
                </a:solidFill>
              </a:rPr>
              <a:t> </a:t>
            </a:r>
            <a:r>
              <a:rPr spc="50" dirty="0">
                <a:solidFill>
                  <a:srgbClr val="0E1626"/>
                </a:solidFill>
              </a:rPr>
              <a:t>Correlation</a:t>
            </a:r>
            <a:r>
              <a:rPr spc="-55" dirty="0">
                <a:solidFill>
                  <a:srgbClr val="0E1626"/>
                </a:solidFill>
              </a:rPr>
              <a:t> </a:t>
            </a:r>
            <a:r>
              <a:rPr spc="140" dirty="0">
                <a:solidFill>
                  <a:srgbClr val="0E1626"/>
                </a:solidFill>
              </a:rPr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7398" y="1790757"/>
            <a:ext cx="877379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Pairwise</a:t>
            </a:r>
            <a:r>
              <a:rPr sz="2300" spc="21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linear</a:t>
            </a:r>
            <a:r>
              <a:rPr sz="2300" spc="26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correlation</a:t>
            </a:r>
            <a:r>
              <a:rPr sz="2300" spc="34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647285"/>
                </a:solidFill>
                <a:latin typeface="Arial"/>
                <a:cs typeface="Arial"/>
              </a:rPr>
              <a:t>coefficients</a:t>
            </a:r>
            <a:r>
              <a:rPr sz="2300" spc="45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across</a:t>
            </a:r>
            <a:r>
              <a:rPr sz="2300" spc="33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numerical</a:t>
            </a:r>
            <a:r>
              <a:rPr sz="2300" spc="24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647285"/>
                </a:solidFill>
                <a:latin typeface="Arial"/>
                <a:cs typeface="Arial"/>
              </a:rPr>
              <a:t>features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337" y="5767606"/>
            <a:ext cx="890905" cy="327660"/>
          </a:xfrm>
          <a:prstGeom prst="rect">
            <a:avLst/>
          </a:prstGeom>
          <a:solidFill>
            <a:srgbClr val="4F44D8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b="1" spc="40" dirty="0">
                <a:solidFill>
                  <a:srgbClr val="F6F9FB"/>
                </a:solidFill>
                <a:latin typeface="Arial"/>
                <a:cs typeface="Arial"/>
              </a:rPr>
              <a:t>Feature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3535" y="5767606"/>
            <a:ext cx="620395" cy="327660"/>
          </a:xfrm>
          <a:prstGeom prst="rect">
            <a:avLst/>
          </a:prstGeom>
          <a:solidFill>
            <a:srgbClr val="4F44D8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b="1" spc="55" dirty="0">
                <a:solidFill>
                  <a:srgbClr val="F6F9FB"/>
                </a:solidFill>
                <a:latin typeface="Arial"/>
                <a:cs typeface="Arial"/>
              </a:rPr>
              <a:t>Price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6411" y="5767606"/>
            <a:ext cx="419100" cy="327660"/>
          </a:xfrm>
          <a:prstGeom prst="rect">
            <a:avLst/>
          </a:prstGeom>
          <a:solidFill>
            <a:srgbClr val="4F44D8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b="1" spc="30" dirty="0">
                <a:solidFill>
                  <a:srgbClr val="F6F9FB"/>
                </a:solidFill>
                <a:latin typeface="Arial"/>
                <a:cs typeface="Arial"/>
              </a:rPr>
              <a:t>Qty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76947" y="5775481"/>
            <a:ext cx="1016635" cy="327660"/>
          </a:xfrm>
          <a:prstGeom prst="rect">
            <a:avLst/>
          </a:prstGeom>
          <a:solidFill>
            <a:srgbClr val="4F44D8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b="1" spc="-10" dirty="0">
                <a:solidFill>
                  <a:srgbClr val="F6F9FB"/>
                </a:solidFill>
                <a:latin typeface="Arial"/>
                <a:cs typeface="Arial"/>
              </a:rPr>
              <a:t>Discount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3792" y="5767606"/>
            <a:ext cx="1233805" cy="327660"/>
          </a:xfrm>
          <a:prstGeom prst="rect">
            <a:avLst/>
          </a:prstGeom>
          <a:solidFill>
            <a:srgbClr val="4F44D8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F6F9FB"/>
                </a:solidFill>
                <a:latin typeface="Arial"/>
                <a:cs typeface="Arial"/>
              </a:rPr>
              <a:t>Final</a:t>
            </a:r>
            <a:r>
              <a:rPr sz="1800" b="1" spc="140" dirty="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6F9FB"/>
                </a:solidFill>
                <a:latin typeface="Arial"/>
                <a:cs typeface="Arial"/>
              </a:rPr>
              <a:t>Price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5638" y="6515744"/>
            <a:ext cx="16090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38414F"/>
                </a:solidFill>
                <a:latin typeface="Arial"/>
                <a:cs typeface="Arial"/>
              </a:rPr>
              <a:t>Product</a:t>
            </a:r>
            <a:r>
              <a:rPr sz="1800" b="1" spc="325" dirty="0">
                <a:solidFill>
                  <a:srgbClr val="38414F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38414F"/>
                </a:solidFill>
                <a:latin typeface="Arial"/>
                <a:cs typeface="Arial"/>
              </a:rPr>
              <a:t>Price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8292" y="6492120"/>
            <a:ext cx="492759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35" dirty="0">
                <a:solidFill>
                  <a:srgbClr val="38414F"/>
                </a:solidFill>
                <a:latin typeface="Times New Roman"/>
                <a:cs typeface="Times New Roman"/>
              </a:rPr>
              <a:t>1.00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4464" y="6492120"/>
            <a:ext cx="48387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20" dirty="0">
                <a:solidFill>
                  <a:srgbClr val="38414F"/>
                </a:solidFill>
                <a:latin typeface="Times New Roman"/>
                <a:cs typeface="Times New Roman"/>
              </a:rPr>
              <a:t>0.01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70583" y="6484244"/>
            <a:ext cx="61277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80" dirty="0">
                <a:solidFill>
                  <a:srgbClr val="38414F"/>
                </a:solidFill>
                <a:latin typeface="Times New Roman"/>
                <a:cs typeface="Times New Roman"/>
              </a:rPr>
              <a:t>-</a:t>
            </a:r>
            <a:r>
              <a:rPr sz="1950" spc="90" dirty="0">
                <a:solidFill>
                  <a:srgbClr val="38414F"/>
                </a:solidFill>
                <a:latin typeface="Times New Roman"/>
                <a:cs typeface="Times New Roman"/>
              </a:rPr>
              <a:t>0.02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77837" y="6507870"/>
            <a:ext cx="55816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b="1" spc="114" dirty="0">
                <a:solidFill>
                  <a:srgbClr val="38414F"/>
                </a:solidFill>
                <a:latin typeface="Arial"/>
                <a:cs typeface="Arial"/>
              </a:rPr>
              <a:t>0.78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2480" y="7263867"/>
            <a:ext cx="10242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45" dirty="0">
                <a:solidFill>
                  <a:srgbClr val="38414F"/>
                </a:solidFill>
                <a:latin typeface="Arial"/>
                <a:cs typeface="Arial"/>
              </a:rPr>
              <a:t>Quantity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8428" y="7248117"/>
            <a:ext cx="48387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20" dirty="0">
                <a:solidFill>
                  <a:srgbClr val="38414F"/>
                </a:solidFill>
                <a:latin typeface="Times New Roman"/>
                <a:cs typeface="Times New Roman"/>
              </a:rPr>
              <a:t>0.01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94328" y="7248117"/>
            <a:ext cx="492759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35" dirty="0">
                <a:solidFill>
                  <a:srgbClr val="2A4464"/>
                </a:solidFill>
                <a:latin typeface="Times New Roman"/>
                <a:cs typeface="Times New Roman"/>
              </a:rPr>
              <a:t>1.00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63979" y="7248117"/>
            <a:ext cx="51879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90" dirty="0">
                <a:solidFill>
                  <a:srgbClr val="38414F"/>
                </a:solidFill>
                <a:latin typeface="Times New Roman"/>
                <a:cs typeface="Times New Roman"/>
              </a:rPr>
              <a:t>0.00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78544" y="7244179"/>
            <a:ext cx="55372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135" dirty="0">
                <a:solidFill>
                  <a:srgbClr val="38414F"/>
                </a:solidFill>
                <a:latin typeface="Times New Roman"/>
                <a:cs typeface="Times New Roman"/>
              </a:rPr>
              <a:t>0.52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15638" y="8019865"/>
            <a:ext cx="13455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95" dirty="0">
                <a:solidFill>
                  <a:srgbClr val="38414F"/>
                </a:solidFill>
                <a:latin typeface="Arial"/>
                <a:cs typeface="Arial"/>
              </a:rPr>
              <a:t>Discount%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77170" y="7996239"/>
            <a:ext cx="62357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95" dirty="0">
                <a:solidFill>
                  <a:srgbClr val="38414F"/>
                </a:solidFill>
                <a:latin typeface="Times New Roman"/>
                <a:cs typeface="Times New Roman"/>
              </a:rPr>
              <a:t>-</a:t>
            </a:r>
            <a:r>
              <a:rPr sz="1950" spc="105" dirty="0">
                <a:solidFill>
                  <a:srgbClr val="38414F"/>
                </a:solidFill>
                <a:latin typeface="Times New Roman"/>
                <a:cs typeface="Times New Roman"/>
              </a:rPr>
              <a:t>0.02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14464" y="8004115"/>
            <a:ext cx="51879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90" dirty="0">
                <a:solidFill>
                  <a:srgbClr val="38414F"/>
                </a:solidFill>
                <a:latin typeface="Times New Roman"/>
                <a:cs typeface="Times New Roman"/>
              </a:rPr>
              <a:t>0.00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43844" y="8004115"/>
            <a:ext cx="492759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35" dirty="0">
                <a:solidFill>
                  <a:srgbClr val="2A4464"/>
                </a:solidFill>
                <a:latin typeface="Times New Roman"/>
                <a:cs typeface="Times New Roman"/>
              </a:rPr>
              <a:t>1.00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81615" y="7992302"/>
            <a:ext cx="59563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solidFill>
                  <a:srgbClr val="38414F"/>
                </a:solidFill>
                <a:latin typeface="Times New Roman"/>
                <a:cs typeface="Times New Roman"/>
              </a:rPr>
              <a:t>-</a:t>
            </a:r>
            <a:r>
              <a:rPr sz="2000" b="1" spc="40" dirty="0">
                <a:solidFill>
                  <a:srgbClr val="38414F"/>
                </a:solidFill>
                <a:latin typeface="Times New Roman"/>
                <a:cs typeface="Times New Roman"/>
              </a:rPr>
              <a:t>0.12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5638" y="8775863"/>
            <a:ext cx="16478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55" dirty="0">
                <a:solidFill>
                  <a:srgbClr val="38414F"/>
                </a:solidFill>
                <a:latin typeface="Arial"/>
                <a:cs typeface="Arial"/>
              </a:rPr>
              <a:t>Delivery</a:t>
            </a:r>
            <a:r>
              <a:rPr sz="1800" b="1" spc="15" dirty="0">
                <a:solidFill>
                  <a:srgbClr val="38414F"/>
                </a:solidFill>
                <a:latin typeface="Arial"/>
                <a:cs typeface="Arial"/>
              </a:rPr>
              <a:t> </a:t>
            </a:r>
            <a:r>
              <a:rPr sz="1800" b="1" spc="70" dirty="0">
                <a:solidFill>
                  <a:srgbClr val="38414F"/>
                </a:solidFill>
                <a:latin typeface="Arial"/>
                <a:cs typeface="Arial"/>
              </a:rPr>
              <a:t>Days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78428" y="8760113"/>
            <a:ext cx="48387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20" dirty="0">
                <a:solidFill>
                  <a:srgbClr val="38414F"/>
                </a:solidFill>
                <a:latin typeface="Times New Roman"/>
                <a:cs typeface="Times New Roman"/>
              </a:rPr>
              <a:t>0.01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13207" y="8752238"/>
            <a:ext cx="59690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65" dirty="0">
                <a:solidFill>
                  <a:srgbClr val="38414F"/>
                </a:solidFill>
                <a:latin typeface="Times New Roman"/>
                <a:cs typeface="Times New Roman"/>
              </a:rPr>
              <a:t>-0.01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163979" y="8760113"/>
            <a:ext cx="50990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70" dirty="0">
                <a:solidFill>
                  <a:srgbClr val="38414F"/>
                </a:solidFill>
                <a:latin typeface="Times New Roman"/>
                <a:cs typeface="Times New Roman"/>
              </a:rPr>
              <a:t>0.02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278544" y="8756176"/>
            <a:ext cx="57150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170" dirty="0">
                <a:solidFill>
                  <a:srgbClr val="38414F"/>
                </a:solidFill>
                <a:latin typeface="Times New Roman"/>
                <a:cs typeface="Times New Roman"/>
              </a:rPr>
              <a:t>0.02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312213" y="3086192"/>
            <a:ext cx="1340485" cy="48037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7780" marR="99695" indent="-1270">
              <a:lnSpc>
                <a:spcPct val="101200"/>
              </a:lnSpc>
              <a:spcBef>
                <a:spcPts val="65"/>
              </a:spcBef>
            </a:pPr>
            <a:r>
              <a:rPr sz="2450" b="1" spc="65" dirty="0">
                <a:solidFill>
                  <a:srgbClr val="0E1626"/>
                </a:solidFill>
                <a:latin typeface="Arial"/>
                <a:cs typeface="Arial"/>
              </a:rPr>
              <a:t>Matrix </a:t>
            </a:r>
            <a:r>
              <a:rPr sz="2450" b="1" spc="-10" dirty="0">
                <a:solidFill>
                  <a:srgbClr val="0E1626"/>
                </a:solidFill>
                <a:latin typeface="Arial"/>
                <a:cs typeface="Arial"/>
              </a:rPr>
              <a:t>Insights</a:t>
            </a:r>
            <a:endParaRPr sz="2450">
              <a:latin typeface="Arial"/>
              <a:cs typeface="Arial"/>
            </a:endParaRPr>
          </a:p>
          <a:p>
            <a:pPr marL="12700" marR="100330" indent="9525">
              <a:lnSpc>
                <a:spcPct val="121100"/>
              </a:lnSpc>
              <a:spcBef>
                <a:spcPts val="1030"/>
              </a:spcBef>
            </a:pPr>
            <a:r>
              <a:rPr sz="1950" b="1" spc="-10" dirty="0">
                <a:solidFill>
                  <a:srgbClr val="4B5664"/>
                </a:solidFill>
                <a:latin typeface="Arial"/>
                <a:cs typeface="Arial"/>
              </a:rPr>
              <a:t>Strongest Positive </a:t>
            </a:r>
            <a:r>
              <a:rPr sz="1950" b="1" spc="80" dirty="0">
                <a:solidFill>
                  <a:srgbClr val="4B5664"/>
                </a:solidFill>
                <a:latin typeface="Arial"/>
                <a:cs typeface="Arial"/>
              </a:rPr>
              <a:t>Driver: </a:t>
            </a:r>
            <a:r>
              <a:rPr sz="1900" spc="-20" dirty="0">
                <a:solidFill>
                  <a:srgbClr val="4B5664"/>
                </a:solidFill>
                <a:latin typeface="Arial"/>
                <a:cs typeface="Arial"/>
              </a:rPr>
              <a:t>Base </a:t>
            </a:r>
            <a:r>
              <a:rPr sz="1900" spc="75" dirty="0">
                <a:solidFill>
                  <a:srgbClr val="4B5664"/>
                </a:solidFill>
                <a:latin typeface="Arial"/>
                <a:cs typeface="Arial"/>
              </a:rPr>
              <a:t>Product </a:t>
            </a:r>
            <a:r>
              <a:rPr sz="1900" spc="60" dirty="0">
                <a:solidFill>
                  <a:srgbClr val="4B5664"/>
                </a:solidFill>
                <a:latin typeface="Arial"/>
                <a:cs typeface="Arial"/>
              </a:rPr>
              <a:t>Price </a:t>
            </a:r>
            <a:r>
              <a:rPr sz="1900" spc="70" dirty="0">
                <a:solidFill>
                  <a:srgbClr val="4B5664"/>
                </a:solidFill>
                <a:latin typeface="Arial"/>
                <a:cs typeface="Arial"/>
              </a:rPr>
              <a:t>(+0.78)</a:t>
            </a:r>
            <a:endParaRPr sz="1900">
              <a:latin typeface="Arial"/>
              <a:cs typeface="Arial"/>
            </a:endParaRPr>
          </a:p>
          <a:p>
            <a:pPr marL="14604" marR="5080" indent="7620">
              <a:lnSpc>
                <a:spcPct val="121500"/>
              </a:lnSpc>
              <a:spcBef>
                <a:spcPts val="20"/>
              </a:spcBef>
            </a:pPr>
            <a:r>
              <a:rPr sz="1900" spc="50" dirty="0">
                <a:solidFill>
                  <a:srgbClr val="4B5664"/>
                </a:solidFill>
                <a:latin typeface="Arial"/>
                <a:cs typeface="Arial"/>
              </a:rPr>
              <a:t>has</a:t>
            </a:r>
            <a:r>
              <a:rPr sz="1900" spc="30" dirty="0">
                <a:solidFill>
                  <a:srgbClr val="4B5664"/>
                </a:solidFill>
                <a:latin typeface="Arial"/>
                <a:cs typeface="Arial"/>
              </a:rPr>
              <a:t> </a:t>
            </a:r>
            <a:r>
              <a:rPr sz="1900" spc="45" dirty="0">
                <a:solidFill>
                  <a:srgbClr val="4B5664"/>
                </a:solidFill>
                <a:latin typeface="Arial"/>
                <a:cs typeface="Arial"/>
              </a:rPr>
              <a:t>the </a:t>
            </a:r>
            <a:r>
              <a:rPr sz="1900" spc="60" dirty="0">
                <a:solidFill>
                  <a:srgbClr val="4B5664"/>
                </a:solidFill>
                <a:latin typeface="Arial"/>
                <a:cs typeface="Arial"/>
              </a:rPr>
              <a:t>strongest </a:t>
            </a:r>
            <a:r>
              <a:rPr sz="1900" spc="114" dirty="0">
                <a:solidFill>
                  <a:srgbClr val="4B5664"/>
                </a:solidFill>
                <a:latin typeface="Arial"/>
                <a:cs typeface="Arial"/>
              </a:rPr>
              <a:t>impact</a:t>
            </a:r>
            <a:r>
              <a:rPr sz="1900" spc="100" dirty="0">
                <a:solidFill>
                  <a:srgbClr val="4B5664"/>
                </a:solidFill>
                <a:latin typeface="Arial"/>
                <a:cs typeface="Arial"/>
              </a:rPr>
              <a:t> </a:t>
            </a:r>
            <a:r>
              <a:rPr sz="1900" spc="95" dirty="0">
                <a:solidFill>
                  <a:srgbClr val="4B5664"/>
                </a:solidFill>
                <a:latin typeface="Arial"/>
                <a:cs typeface="Arial"/>
              </a:rPr>
              <a:t>on </a:t>
            </a:r>
            <a:r>
              <a:rPr sz="1900" dirty="0">
                <a:solidFill>
                  <a:srgbClr val="4B5664"/>
                </a:solidFill>
                <a:latin typeface="Arial"/>
                <a:cs typeface="Arial"/>
              </a:rPr>
              <a:t>Final</a:t>
            </a:r>
            <a:r>
              <a:rPr sz="1900" spc="250" dirty="0">
                <a:solidFill>
                  <a:srgbClr val="4B5664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4B5664"/>
                </a:solidFill>
                <a:latin typeface="Arial"/>
                <a:cs typeface="Arial"/>
              </a:rPr>
              <a:t>Price.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312213" y="8054515"/>
            <a:ext cx="1347470" cy="320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9525">
              <a:lnSpc>
                <a:spcPct val="120000"/>
              </a:lnSpc>
              <a:spcBef>
                <a:spcPts val="75"/>
              </a:spcBef>
            </a:pPr>
            <a:r>
              <a:rPr sz="1950" b="1" spc="-10" dirty="0">
                <a:solidFill>
                  <a:srgbClr val="4B5664"/>
                </a:solidFill>
                <a:latin typeface="Arial"/>
                <a:cs typeface="Arial"/>
              </a:rPr>
              <a:t>Secondary </a:t>
            </a:r>
            <a:r>
              <a:rPr sz="1950" b="1" spc="80" dirty="0">
                <a:solidFill>
                  <a:srgbClr val="4B5664"/>
                </a:solidFill>
                <a:latin typeface="Arial"/>
                <a:cs typeface="Arial"/>
              </a:rPr>
              <a:t>Driver: </a:t>
            </a:r>
            <a:r>
              <a:rPr sz="1900" spc="40" dirty="0">
                <a:solidFill>
                  <a:srgbClr val="4B5664"/>
                </a:solidFill>
                <a:latin typeface="Arial"/>
                <a:cs typeface="Arial"/>
              </a:rPr>
              <a:t>Quantity </a:t>
            </a:r>
            <a:r>
              <a:rPr sz="1900" spc="60" dirty="0">
                <a:solidFill>
                  <a:srgbClr val="4B5664"/>
                </a:solidFill>
                <a:latin typeface="Arial"/>
                <a:cs typeface="Arial"/>
              </a:rPr>
              <a:t>purchased </a:t>
            </a:r>
            <a:r>
              <a:rPr sz="1900" spc="95" dirty="0">
                <a:solidFill>
                  <a:srgbClr val="4B5664"/>
                </a:solidFill>
                <a:latin typeface="Arial"/>
                <a:cs typeface="Arial"/>
              </a:rPr>
              <a:t>(+0.52)</a:t>
            </a:r>
            <a:endParaRPr sz="1900">
              <a:latin typeface="Arial"/>
              <a:cs typeface="Arial"/>
            </a:endParaRPr>
          </a:p>
          <a:p>
            <a:pPr marL="19050" marR="20320" indent="3810">
              <a:lnSpc>
                <a:spcPct val="122400"/>
              </a:lnSpc>
              <a:spcBef>
                <a:spcPts val="60"/>
              </a:spcBef>
            </a:pPr>
            <a:r>
              <a:rPr sz="1900" spc="80" dirty="0">
                <a:solidFill>
                  <a:srgbClr val="4B5664"/>
                </a:solidFill>
                <a:latin typeface="Arial"/>
                <a:cs typeface="Arial"/>
              </a:rPr>
              <a:t>strongly </a:t>
            </a:r>
            <a:r>
              <a:rPr sz="1900" spc="100" dirty="0">
                <a:solidFill>
                  <a:srgbClr val="4B5664"/>
                </a:solidFill>
                <a:latin typeface="Arial"/>
                <a:cs typeface="Arial"/>
              </a:rPr>
              <a:t>boosts </a:t>
            </a:r>
            <a:r>
              <a:rPr sz="1900" spc="75" dirty="0">
                <a:solidFill>
                  <a:srgbClr val="4B5664"/>
                </a:solidFill>
                <a:latin typeface="Arial"/>
                <a:cs typeface="Arial"/>
              </a:rPr>
              <a:t>total </a:t>
            </a:r>
            <a:r>
              <a:rPr sz="1900" spc="60" dirty="0">
                <a:solidFill>
                  <a:srgbClr val="4B5664"/>
                </a:solidFill>
                <a:latin typeface="Arial"/>
                <a:cs typeface="Arial"/>
              </a:rPr>
              <a:t>transaction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3322" y="3921826"/>
            <a:ext cx="1179815" cy="7402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31792" y="3906076"/>
            <a:ext cx="1148353" cy="7717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8801" y="3921826"/>
            <a:ext cx="519118" cy="7402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5864" y="688259"/>
            <a:ext cx="274891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55" dirty="0">
                <a:solidFill>
                  <a:srgbClr val="6462E2"/>
                </a:solidFill>
                <a:latin typeface="Arial"/>
                <a:cs typeface="Arial"/>
              </a:rPr>
              <a:t>DATA</a:t>
            </a:r>
            <a:r>
              <a:rPr sz="1700" b="1" spc="200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30" dirty="0">
                <a:solidFill>
                  <a:srgbClr val="6462E2"/>
                </a:solidFill>
                <a:latin typeface="Arial"/>
                <a:cs typeface="Arial"/>
              </a:rPr>
              <a:t>QUALITY</a:t>
            </a:r>
            <a:r>
              <a:rPr sz="1700" b="1" spc="335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90" dirty="0">
                <a:solidFill>
                  <a:srgbClr val="6462E2"/>
                </a:solidFill>
                <a:latin typeface="Arial"/>
                <a:cs typeface="Arial"/>
              </a:rPr>
              <a:t>CHECK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80" dirty="0">
                <a:solidFill>
                  <a:srgbClr val="0E1626"/>
                </a:solidFill>
              </a:rPr>
              <a:t>Multicollinearity</a:t>
            </a:r>
            <a:r>
              <a:rPr sz="4000" spc="-225" dirty="0">
                <a:solidFill>
                  <a:srgbClr val="0E1626"/>
                </a:solidFill>
              </a:rPr>
              <a:t> </a:t>
            </a:r>
            <a:r>
              <a:rPr sz="3700" spc="105" dirty="0">
                <a:solidFill>
                  <a:srgbClr val="0E1626"/>
                </a:solidFill>
              </a:rPr>
              <a:t>&amp;</a:t>
            </a:r>
            <a:r>
              <a:rPr sz="3700" spc="-260" dirty="0">
                <a:solidFill>
                  <a:srgbClr val="0E1626"/>
                </a:solidFill>
              </a:rPr>
              <a:t> </a:t>
            </a:r>
            <a:r>
              <a:rPr sz="4000" spc="-10" dirty="0">
                <a:solidFill>
                  <a:srgbClr val="0E1626"/>
                </a:solidFill>
              </a:rPr>
              <a:t>Redundancy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995247" y="1790757"/>
            <a:ext cx="901827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Testing</a:t>
            </a:r>
            <a:r>
              <a:rPr sz="2300" spc="7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285"/>
                </a:solidFill>
                <a:latin typeface="Arial"/>
                <a:cs typeface="Arial"/>
              </a:rPr>
              <a:t>independent</a:t>
            </a:r>
            <a:r>
              <a:rPr sz="2300" spc="254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285"/>
                </a:solidFill>
                <a:latin typeface="Arial"/>
                <a:cs typeface="Arial"/>
              </a:rPr>
              <a:t>features</a:t>
            </a:r>
            <a:r>
              <a:rPr sz="2300" spc="24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647285"/>
                </a:solidFill>
                <a:latin typeface="Arial"/>
                <a:cs typeface="Arial"/>
              </a:rPr>
              <a:t>for</a:t>
            </a:r>
            <a:r>
              <a:rPr sz="2300" spc="13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285"/>
                </a:solidFill>
                <a:latin typeface="Arial"/>
                <a:cs typeface="Arial"/>
              </a:rPr>
              <a:t>high</a:t>
            </a:r>
            <a:r>
              <a:rPr sz="2300" spc="6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pairwise</a:t>
            </a:r>
            <a:r>
              <a:rPr sz="2300" spc="28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correlation</a:t>
            </a:r>
            <a:r>
              <a:rPr sz="2300" spc="36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150" spc="55" dirty="0">
                <a:solidFill>
                  <a:srgbClr val="647285"/>
                </a:solidFill>
                <a:latin typeface="Arial"/>
                <a:cs typeface="Arial"/>
              </a:rPr>
              <a:t>(&gt;</a:t>
            </a:r>
            <a:r>
              <a:rPr sz="2150" spc="32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647285"/>
                </a:solidFill>
                <a:latin typeface="Arial"/>
                <a:cs typeface="Arial"/>
              </a:rPr>
              <a:t>0.80)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37113" y="3436627"/>
            <a:ext cx="423164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70" dirty="0">
                <a:solidFill>
                  <a:srgbClr val="4D5664"/>
                </a:solidFill>
                <a:latin typeface="Arial"/>
                <a:cs typeface="Arial"/>
              </a:rPr>
              <a:t>MULTICOLLINEARITY</a:t>
            </a:r>
            <a:r>
              <a:rPr sz="1950" b="1" spc="38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1950" b="1" spc="125" dirty="0">
                <a:solidFill>
                  <a:srgbClr val="4D5664"/>
                </a:solidFill>
                <a:latin typeface="Arial"/>
                <a:cs typeface="Arial"/>
              </a:rPr>
              <a:t>STATUS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0688" y="4987998"/>
            <a:ext cx="9044305" cy="16440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35"/>
              </a:spcBef>
            </a:pPr>
            <a:r>
              <a:rPr sz="1950" b="1" spc="75" dirty="0">
                <a:solidFill>
                  <a:srgbClr val="4D5664"/>
                </a:solidFill>
                <a:latin typeface="Arial"/>
                <a:cs typeface="Arial"/>
              </a:rPr>
              <a:t>No</a:t>
            </a:r>
            <a:r>
              <a:rPr sz="1950" b="1" spc="-5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4D5664"/>
                </a:solidFill>
                <a:latin typeface="Arial"/>
                <a:cs typeface="Arial"/>
              </a:rPr>
              <a:t>Feature</a:t>
            </a:r>
            <a:r>
              <a:rPr sz="1950" b="1" spc="-9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4D5664"/>
                </a:solidFill>
                <a:latin typeface="Arial"/>
                <a:cs typeface="Arial"/>
              </a:rPr>
              <a:t>Redundancy</a:t>
            </a:r>
            <a:r>
              <a:rPr sz="1950" b="1" spc="5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1950" b="1" spc="95" dirty="0">
                <a:solidFill>
                  <a:srgbClr val="4D5664"/>
                </a:solidFill>
                <a:latin typeface="Arial"/>
                <a:cs typeface="Arial"/>
              </a:rPr>
              <a:t>Detected(&gt;</a:t>
            </a:r>
            <a:r>
              <a:rPr sz="1950" b="1" spc="11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1950" b="1" spc="145" dirty="0">
                <a:solidFill>
                  <a:srgbClr val="4D5664"/>
                </a:solidFill>
                <a:latin typeface="Arial"/>
                <a:cs typeface="Arial"/>
              </a:rPr>
              <a:t>0.80)</a:t>
            </a:r>
            <a:endParaRPr sz="1950">
              <a:latin typeface="Arial"/>
              <a:cs typeface="Arial"/>
            </a:endParaRPr>
          </a:p>
          <a:p>
            <a:pPr marL="12065" marR="5080" algn="ctr">
              <a:lnSpc>
                <a:spcPct val="116300"/>
              </a:lnSpc>
              <a:spcBef>
                <a:spcPts val="1989"/>
              </a:spcBef>
            </a:pP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All</a:t>
            </a:r>
            <a:r>
              <a:rPr sz="2000" spc="18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independent</a:t>
            </a:r>
            <a:r>
              <a:rPr sz="2000" spc="47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feature</a:t>
            </a:r>
            <a:r>
              <a:rPr sz="2000" spc="2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variables</a:t>
            </a:r>
            <a:r>
              <a:rPr sz="2000" spc="4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(Age,</a:t>
            </a:r>
            <a:r>
              <a:rPr sz="2000" spc="2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Product</a:t>
            </a:r>
            <a:r>
              <a:rPr sz="2000" spc="29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Price,</a:t>
            </a:r>
            <a:r>
              <a:rPr sz="2000" spc="23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Quantity,</a:t>
            </a:r>
            <a:r>
              <a:rPr sz="2000" spc="41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Discount</a:t>
            </a:r>
            <a:r>
              <a:rPr sz="2000" spc="44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4D5664"/>
                </a:solidFill>
                <a:latin typeface="Arial"/>
                <a:cs typeface="Arial"/>
              </a:rPr>
              <a:t>%,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Delivery</a:t>
            </a:r>
            <a:r>
              <a:rPr sz="2000" spc="29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Days)</a:t>
            </a:r>
            <a:r>
              <a:rPr sz="2000" spc="40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4D5664"/>
                </a:solidFill>
                <a:latin typeface="Arial"/>
                <a:cs typeface="Arial"/>
              </a:rPr>
              <a:t>carry</a:t>
            </a:r>
            <a:r>
              <a:rPr sz="2000" spc="2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unique,</a:t>
            </a:r>
            <a:r>
              <a:rPr sz="2000" spc="26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independent</a:t>
            </a:r>
            <a:r>
              <a:rPr sz="2000" spc="30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4D5664"/>
                </a:solidFill>
                <a:latin typeface="Arial"/>
                <a:cs typeface="Arial"/>
              </a:rPr>
              <a:t>information</a:t>
            </a:r>
            <a:r>
              <a:rPr sz="2000" spc="24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suitable</a:t>
            </a:r>
            <a:r>
              <a:rPr sz="2000" spc="18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for</a:t>
            </a:r>
            <a:r>
              <a:rPr sz="2000" spc="-15" dirty="0">
                <a:solidFill>
                  <a:srgbClr val="4D566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4D5664"/>
                </a:solidFill>
                <a:latin typeface="Arial"/>
                <a:cs typeface="Arial"/>
              </a:rPr>
              <a:t>statistical modeling.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304" y="696136"/>
            <a:ext cx="315214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110" dirty="0">
                <a:solidFill>
                  <a:srgbClr val="6462E2"/>
                </a:solidFill>
                <a:latin typeface="Arial"/>
                <a:cs typeface="Arial"/>
              </a:rPr>
              <a:t>MULTIVARIATE</a:t>
            </a:r>
            <a:r>
              <a:rPr sz="1700" b="1" spc="480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10" dirty="0">
                <a:solidFill>
                  <a:srgbClr val="6462E2"/>
                </a:solidFill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>
                <a:solidFill>
                  <a:srgbClr val="0E1626"/>
                </a:solidFill>
              </a:rPr>
              <a:t>Product</a:t>
            </a:r>
            <a:r>
              <a:rPr spc="10" dirty="0">
                <a:solidFill>
                  <a:srgbClr val="0E1626"/>
                </a:solidFill>
              </a:rPr>
              <a:t> </a:t>
            </a:r>
            <a:r>
              <a:rPr spc="120" dirty="0">
                <a:solidFill>
                  <a:srgbClr val="0E1626"/>
                </a:solidFill>
              </a:rPr>
              <a:t>Category</a:t>
            </a:r>
            <a:r>
              <a:rPr spc="405" dirty="0">
                <a:solidFill>
                  <a:srgbClr val="0E1626"/>
                </a:solidFill>
              </a:rPr>
              <a:t> </a:t>
            </a:r>
            <a:r>
              <a:rPr sz="3750" spc="80" dirty="0">
                <a:solidFill>
                  <a:srgbClr val="0E1626"/>
                </a:solidFill>
              </a:rPr>
              <a:t>x</a:t>
            </a:r>
            <a:r>
              <a:rPr sz="3750" spc="85" dirty="0">
                <a:solidFill>
                  <a:srgbClr val="0E1626"/>
                </a:solidFill>
              </a:rPr>
              <a:t> </a:t>
            </a:r>
            <a:r>
              <a:rPr dirty="0">
                <a:solidFill>
                  <a:srgbClr val="0E1626"/>
                </a:solidFill>
              </a:rPr>
              <a:t>Discount</a:t>
            </a:r>
            <a:r>
              <a:rPr spc="500" dirty="0">
                <a:solidFill>
                  <a:srgbClr val="0E1626"/>
                </a:solidFill>
              </a:rPr>
              <a:t> </a:t>
            </a:r>
            <a:r>
              <a:rPr sz="3750" spc="80" dirty="0">
                <a:solidFill>
                  <a:srgbClr val="0E1626"/>
                </a:solidFill>
              </a:rPr>
              <a:t>x</a:t>
            </a:r>
            <a:r>
              <a:rPr sz="3750" spc="85" dirty="0">
                <a:solidFill>
                  <a:srgbClr val="0E1626"/>
                </a:solidFill>
              </a:rPr>
              <a:t> </a:t>
            </a:r>
            <a:r>
              <a:rPr spc="-10" dirty="0">
                <a:solidFill>
                  <a:srgbClr val="0E1626"/>
                </a:solidFill>
              </a:rPr>
              <a:t>Revenue</a:t>
            </a:r>
            <a:endParaRPr sz="3750"/>
          </a:p>
        </p:txBody>
      </p:sp>
      <p:sp>
        <p:nvSpPr>
          <p:cNvPr id="4" name="object 4"/>
          <p:cNvSpPr txBox="1"/>
          <p:nvPr/>
        </p:nvSpPr>
        <p:spPr>
          <a:xfrm>
            <a:off x="986816" y="1790757"/>
            <a:ext cx="977201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Evaluating</a:t>
            </a:r>
            <a:r>
              <a:rPr sz="2300" spc="26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647083"/>
                </a:solidFill>
                <a:latin typeface="Arial"/>
                <a:cs typeface="Arial"/>
              </a:rPr>
              <a:t>revenue</a:t>
            </a:r>
            <a:r>
              <a:rPr sz="2300" spc="24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yield</a:t>
            </a:r>
            <a:r>
              <a:rPr sz="2300" spc="120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across</a:t>
            </a:r>
            <a:r>
              <a:rPr sz="2300" spc="30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647083"/>
                </a:solidFill>
                <a:latin typeface="Arial"/>
                <a:cs typeface="Arial"/>
              </a:rPr>
              <a:t>category</a:t>
            </a:r>
            <a:r>
              <a:rPr sz="2300" spc="240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and</a:t>
            </a:r>
            <a:r>
              <a:rPr sz="2300" spc="90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promotional</a:t>
            </a:r>
            <a:r>
              <a:rPr sz="2300" spc="21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3"/>
                </a:solidFill>
                <a:latin typeface="Arial"/>
                <a:cs typeface="Arial"/>
              </a:rPr>
              <a:t>discount</a:t>
            </a:r>
            <a:r>
              <a:rPr sz="2300" spc="245" dirty="0">
                <a:solidFill>
                  <a:srgbClr val="647083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647083"/>
                </a:solidFill>
                <a:latin typeface="Arial"/>
                <a:cs typeface="Arial"/>
              </a:rPr>
              <a:t>tiers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0528" y="5576732"/>
            <a:ext cx="4916170" cy="1795780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805"/>
              </a:spcBef>
            </a:pPr>
            <a:r>
              <a:rPr sz="2400" b="1" dirty="0">
                <a:solidFill>
                  <a:srgbClr val="0E1626"/>
                </a:solidFill>
                <a:latin typeface="Arial"/>
                <a:cs typeface="Arial"/>
              </a:rPr>
              <a:t>Electronics</a:t>
            </a:r>
            <a:r>
              <a:rPr sz="2400" b="1" spc="254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0E1626"/>
                </a:solidFill>
                <a:latin typeface="Arial"/>
                <a:cs typeface="Arial"/>
              </a:rPr>
              <a:t>Peak</a:t>
            </a:r>
            <a:endParaRPr sz="2400">
              <a:latin typeface="Arial"/>
              <a:cs typeface="Arial"/>
            </a:endParaRPr>
          </a:p>
          <a:p>
            <a:pPr marL="12700" marR="5080" indent="15240">
              <a:lnSpc>
                <a:spcPct val="114999"/>
              </a:lnSpc>
              <a:spcBef>
                <a:spcPts val="1065"/>
              </a:spcBef>
            </a:pP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Electronics</a:t>
            </a:r>
            <a:r>
              <a:rPr sz="2000" spc="48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505764"/>
                </a:solidFill>
                <a:latin typeface="Arial"/>
                <a:cs typeface="Arial"/>
              </a:rPr>
              <a:t>with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moderate</a:t>
            </a:r>
            <a:r>
              <a:rPr sz="2000" spc="409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discounts</a:t>
            </a:r>
            <a:r>
              <a:rPr sz="2000" spc="49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505764"/>
                </a:solidFill>
                <a:latin typeface="Arial"/>
                <a:cs typeface="Arial"/>
              </a:rPr>
              <a:t>(10-</a:t>
            </a:r>
            <a:r>
              <a:rPr sz="2000" spc="80" dirty="0">
                <a:solidFill>
                  <a:srgbClr val="505764"/>
                </a:solidFill>
                <a:latin typeface="Arial"/>
                <a:cs typeface="Arial"/>
              </a:rPr>
              <a:t>15</a:t>
            </a:r>
            <a:r>
              <a:rPr sz="1850" spc="80" dirty="0">
                <a:solidFill>
                  <a:srgbClr val="505764"/>
                </a:solidFill>
                <a:latin typeface="Arial"/>
                <a:cs typeface="Arial"/>
              </a:rPr>
              <a:t>%)</a:t>
            </a:r>
            <a:r>
              <a:rPr sz="1850" spc="395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generated</a:t>
            </a:r>
            <a:r>
              <a:rPr sz="2000" spc="35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the</a:t>
            </a:r>
            <a:r>
              <a:rPr sz="2000" spc="135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highest</a:t>
            </a:r>
            <a:r>
              <a:rPr sz="2000" spc="204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overall</a:t>
            </a:r>
            <a:r>
              <a:rPr sz="2000" spc="29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05764"/>
                </a:solidFill>
                <a:latin typeface="Arial"/>
                <a:cs typeface="Arial"/>
              </a:rPr>
              <a:t>net </a:t>
            </a:r>
            <a:r>
              <a:rPr sz="2000" spc="-10" dirty="0">
                <a:solidFill>
                  <a:srgbClr val="505764"/>
                </a:solidFill>
                <a:latin typeface="Arial"/>
                <a:cs typeface="Arial"/>
              </a:rPr>
              <a:t>revenue.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0109" y="5783371"/>
            <a:ext cx="4525010" cy="15887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E1626"/>
                </a:solidFill>
                <a:latin typeface="Arial"/>
                <a:cs typeface="Arial"/>
              </a:rPr>
              <a:t>Discount</a:t>
            </a:r>
            <a:r>
              <a:rPr sz="2400" b="1" spc="17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E1626"/>
                </a:solidFill>
                <a:latin typeface="Arial"/>
                <a:cs typeface="Arial"/>
              </a:rPr>
              <a:t>Sensitivity</a:t>
            </a:r>
            <a:endParaRPr sz="2400">
              <a:latin typeface="Arial"/>
              <a:cs typeface="Arial"/>
            </a:endParaRPr>
          </a:p>
          <a:p>
            <a:pPr marL="17780" marR="5080" indent="-3810">
              <a:lnSpc>
                <a:spcPct val="114999"/>
              </a:lnSpc>
              <a:spcBef>
                <a:spcPts val="1130"/>
              </a:spcBef>
            </a:pP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Excessive</a:t>
            </a:r>
            <a:r>
              <a:rPr sz="2000" spc="26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discounts</a:t>
            </a:r>
            <a:r>
              <a:rPr sz="2000" spc="335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505764"/>
                </a:solidFill>
                <a:latin typeface="Arial"/>
                <a:cs typeface="Arial"/>
              </a:rPr>
              <a:t>(&gt;25%)</a:t>
            </a:r>
            <a:r>
              <a:rPr sz="2000" spc="44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505764"/>
                </a:solidFill>
                <a:latin typeface="Arial"/>
                <a:cs typeface="Arial"/>
              </a:rPr>
              <a:t>on </a:t>
            </a:r>
            <a:r>
              <a:rPr sz="2000" spc="114" dirty="0">
                <a:solidFill>
                  <a:srgbClr val="505764"/>
                </a:solidFill>
                <a:latin typeface="Arial"/>
                <a:cs typeface="Arial"/>
              </a:rPr>
              <a:t>low-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margin</a:t>
            </a:r>
            <a:r>
              <a:rPr sz="2000" spc="22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categories</a:t>
            </a:r>
            <a:r>
              <a:rPr sz="2000" spc="32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505764"/>
                </a:solidFill>
                <a:latin typeface="Arial"/>
                <a:cs typeface="Arial"/>
              </a:rPr>
              <a:t>like</a:t>
            </a:r>
            <a:r>
              <a:rPr sz="2000" spc="18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Books</a:t>
            </a:r>
            <a:r>
              <a:rPr sz="2000" spc="27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505764"/>
                </a:solidFill>
                <a:latin typeface="Arial"/>
                <a:cs typeface="Arial"/>
              </a:rPr>
              <a:t>failed</a:t>
            </a:r>
            <a:r>
              <a:rPr sz="2000" spc="31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505764"/>
                </a:solidFill>
                <a:latin typeface="Arial"/>
                <a:cs typeface="Arial"/>
              </a:rPr>
              <a:t>to </a:t>
            </a:r>
            <a:r>
              <a:rPr sz="2000" spc="65" dirty="0">
                <a:solidFill>
                  <a:srgbClr val="505764"/>
                </a:solidFill>
                <a:latin typeface="Arial"/>
                <a:cs typeface="Arial"/>
              </a:rPr>
              <a:t>drive</a:t>
            </a:r>
            <a:r>
              <a:rPr sz="2000" spc="24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sufficient</a:t>
            </a:r>
            <a:r>
              <a:rPr sz="2000" spc="42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volume</a:t>
            </a:r>
            <a:r>
              <a:rPr sz="2000" spc="25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05764"/>
                </a:solidFill>
                <a:latin typeface="Arial"/>
                <a:cs typeface="Arial"/>
              </a:rPr>
              <a:t>compensation.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77951" y="5783371"/>
            <a:ext cx="4704080" cy="15887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E1626"/>
                </a:solidFill>
                <a:latin typeface="Arial"/>
                <a:cs typeface="Arial"/>
              </a:rPr>
              <a:t>Optimal</a:t>
            </a:r>
            <a:r>
              <a:rPr sz="2400" b="1" spc="15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E1626"/>
                </a:solidFill>
                <a:latin typeface="Arial"/>
                <a:cs typeface="Arial"/>
              </a:rPr>
              <a:t>Pricing</a:t>
            </a:r>
            <a:r>
              <a:rPr sz="2400" b="1" spc="26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400" b="1" spc="30" dirty="0">
                <a:solidFill>
                  <a:srgbClr val="0E1626"/>
                </a:solidFill>
                <a:latin typeface="Arial"/>
                <a:cs typeface="Arial"/>
              </a:rPr>
              <a:t>Spot</a:t>
            </a:r>
            <a:endParaRPr sz="2400">
              <a:latin typeface="Arial"/>
              <a:cs typeface="Arial"/>
            </a:endParaRPr>
          </a:p>
          <a:p>
            <a:pPr marL="15240" marR="5080" indent="-1270">
              <a:lnSpc>
                <a:spcPct val="113700"/>
              </a:lnSpc>
              <a:spcBef>
                <a:spcPts val="1225"/>
              </a:spcBef>
            </a:pP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Moderate</a:t>
            </a:r>
            <a:r>
              <a:rPr sz="2000" spc="47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discount</a:t>
            </a:r>
            <a:r>
              <a:rPr sz="2000" spc="434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strategies</a:t>
            </a:r>
            <a:r>
              <a:rPr sz="2000" spc="395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05764"/>
                </a:solidFill>
                <a:latin typeface="Arial"/>
                <a:cs typeface="Arial"/>
              </a:rPr>
              <a:t>retain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premium</a:t>
            </a:r>
            <a:r>
              <a:rPr sz="2000" spc="229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505764"/>
                </a:solidFill>
                <a:latin typeface="Arial"/>
                <a:cs typeface="Arial"/>
              </a:rPr>
              <a:t>category</a:t>
            </a:r>
            <a:r>
              <a:rPr sz="2000" spc="34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value</a:t>
            </a:r>
            <a:r>
              <a:rPr sz="2000" spc="30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while</a:t>
            </a:r>
            <a:r>
              <a:rPr sz="2000" spc="200" dirty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505764"/>
                </a:solidFill>
                <a:latin typeface="Arial"/>
                <a:cs typeface="Arial"/>
              </a:rPr>
              <a:t>boosting </a:t>
            </a:r>
            <a:r>
              <a:rPr sz="2000" dirty="0">
                <a:solidFill>
                  <a:srgbClr val="505764"/>
                </a:solidFill>
                <a:latin typeface="Arial"/>
                <a:cs typeface="Arial"/>
              </a:rPr>
              <a:t>checkout</a:t>
            </a:r>
            <a:r>
              <a:rPr sz="2000" spc="-15" dirty="0">
                <a:solidFill>
                  <a:srgbClr val="50576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505764"/>
                </a:solidFill>
                <a:latin typeface="Arial"/>
                <a:cs typeface="Arial"/>
              </a:rPr>
              <a:t>conversion.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583" y="700073"/>
            <a:ext cx="315150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110" dirty="0">
                <a:solidFill>
                  <a:srgbClr val="6462E2"/>
                </a:solidFill>
                <a:latin typeface="Arial"/>
                <a:cs typeface="Arial"/>
              </a:rPr>
              <a:t>MULTIVARIATE</a:t>
            </a:r>
            <a:r>
              <a:rPr sz="1700" b="1" spc="475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10" dirty="0">
                <a:solidFill>
                  <a:srgbClr val="6462E2"/>
                </a:solidFill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pc="60" dirty="0">
                <a:solidFill>
                  <a:srgbClr val="0F1626"/>
                </a:solidFill>
              </a:rPr>
              <a:t>Customer</a:t>
            </a:r>
            <a:r>
              <a:rPr spc="75" dirty="0">
                <a:solidFill>
                  <a:srgbClr val="0F1626"/>
                </a:solidFill>
              </a:rPr>
              <a:t> </a:t>
            </a:r>
            <a:r>
              <a:rPr spc="70" dirty="0">
                <a:solidFill>
                  <a:srgbClr val="0F1626"/>
                </a:solidFill>
              </a:rPr>
              <a:t>Segment</a:t>
            </a:r>
            <a:r>
              <a:rPr spc="300" dirty="0">
                <a:solidFill>
                  <a:srgbClr val="0F1626"/>
                </a:solidFill>
              </a:rPr>
              <a:t> </a:t>
            </a:r>
            <a:r>
              <a:rPr dirty="0">
                <a:solidFill>
                  <a:srgbClr val="0F1626"/>
                </a:solidFill>
              </a:rPr>
              <a:t>x</a:t>
            </a:r>
            <a:r>
              <a:rPr spc="85" dirty="0">
                <a:solidFill>
                  <a:srgbClr val="0F1626"/>
                </a:solidFill>
              </a:rPr>
              <a:t> </a:t>
            </a:r>
            <a:r>
              <a:rPr spc="70" dirty="0">
                <a:solidFill>
                  <a:srgbClr val="0F1626"/>
                </a:solidFill>
              </a:rPr>
              <a:t>Age</a:t>
            </a:r>
            <a:r>
              <a:rPr spc="85" dirty="0">
                <a:solidFill>
                  <a:srgbClr val="0F1626"/>
                </a:solidFill>
              </a:rPr>
              <a:t> </a:t>
            </a:r>
            <a:r>
              <a:rPr dirty="0">
                <a:solidFill>
                  <a:srgbClr val="0F1626"/>
                </a:solidFill>
              </a:rPr>
              <a:t>x</a:t>
            </a:r>
            <a:r>
              <a:rPr spc="10" dirty="0">
                <a:solidFill>
                  <a:srgbClr val="0F1626"/>
                </a:solidFill>
              </a:rPr>
              <a:t> </a:t>
            </a:r>
            <a:r>
              <a:rPr spc="-10" dirty="0">
                <a:solidFill>
                  <a:srgbClr val="0F1626"/>
                </a:solidFill>
              </a:rPr>
              <a:t>Spending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7398" y="1790757"/>
            <a:ext cx="858393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Demographic</a:t>
            </a:r>
            <a:r>
              <a:rPr sz="2300" spc="40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interaction</a:t>
            </a:r>
            <a:r>
              <a:rPr sz="2300" spc="33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647085"/>
                </a:solidFill>
                <a:latin typeface="Arial"/>
                <a:cs typeface="Arial"/>
              </a:rPr>
              <a:t>effect</a:t>
            </a:r>
            <a:r>
              <a:rPr sz="2300" spc="18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647085"/>
                </a:solidFill>
                <a:latin typeface="Arial"/>
                <a:cs typeface="Arial"/>
              </a:rPr>
              <a:t>on</a:t>
            </a:r>
            <a:r>
              <a:rPr sz="2300" spc="65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647085"/>
                </a:solidFill>
                <a:latin typeface="Arial"/>
                <a:cs typeface="Arial"/>
              </a:rPr>
              <a:t>customer</a:t>
            </a:r>
            <a:r>
              <a:rPr sz="2300" spc="43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085"/>
                </a:solidFill>
                <a:latin typeface="Arial"/>
                <a:cs typeface="Arial"/>
              </a:rPr>
              <a:t>spending</a:t>
            </a:r>
            <a:r>
              <a:rPr sz="2300" spc="20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647085"/>
                </a:solidFill>
                <a:latin typeface="Arial"/>
                <a:cs typeface="Arial"/>
              </a:rPr>
              <a:t>behavior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5071" y="5566809"/>
            <a:ext cx="222758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342F90"/>
                </a:solidFill>
                <a:latin typeface="Arial"/>
                <a:cs typeface="Arial"/>
              </a:rPr>
              <a:t>Top</a:t>
            </a:r>
            <a:r>
              <a:rPr sz="1700" b="1" spc="65" dirty="0">
                <a:solidFill>
                  <a:srgbClr val="342F9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342F90"/>
                </a:solidFill>
                <a:latin typeface="Arial"/>
                <a:cs typeface="Arial"/>
              </a:rPr>
              <a:t>Revenue</a:t>
            </a:r>
            <a:r>
              <a:rPr sz="1700" b="1" spc="130" dirty="0">
                <a:solidFill>
                  <a:srgbClr val="342F9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342F90"/>
                </a:solidFill>
                <a:latin typeface="Arial"/>
                <a:cs typeface="Arial"/>
              </a:rPr>
              <a:t>Cohort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52013" y="5566809"/>
            <a:ext cx="221551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0F5944"/>
                </a:solidFill>
                <a:latin typeface="Arial"/>
                <a:cs typeface="Arial"/>
              </a:rPr>
              <a:t>Shipping</a:t>
            </a:r>
            <a:r>
              <a:rPr sz="1700" b="1" spc="335" dirty="0">
                <a:solidFill>
                  <a:srgbClr val="0F59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5944"/>
                </a:solidFill>
                <a:latin typeface="Arial"/>
                <a:cs typeface="Arial"/>
              </a:rPr>
              <a:t>Interaction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6244" y="6062933"/>
            <a:ext cx="7488555" cy="160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F1626"/>
                </a:solidFill>
                <a:latin typeface="Arial"/>
                <a:cs typeface="Arial"/>
              </a:rPr>
              <a:t>Premium</a:t>
            </a:r>
            <a:r>
              <a:rPr sz="2450" b="1" spc="15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F1626"/>
                </a:solidFill>
                <a:latin typeface="Arial"/>
                <a:cs typeface="Arial"/>
              </a:rPr>
              <a:t>Segment</a:t>
            </a:r>
            <a:r>
              <a:rPr sz="2450" b="1" spc="15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50" b="1" spc="80" dirty="0">
                <a:solidFill>
                  <a:srgbClr val="0F1626"/>
                </a:solidFill>
                <a:latin typeface="Arial"/>
                <a:cs typeface="Arial"/>
              </a:rPr>
              <a:t>(Age</a:t>
            </a:r>
            <a:r>
              <a:rPr sz="2450" b="1" spc="6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50" b="1" spc="229" dirty="0">
                <a:solidFill>
                  <a:srgbClr val="0F1626"/>
                </a:solidFill>
                <a:latin typeface="Arial"/>
                <a:cs typeface="Arial"/>
              </a:rPr>
              <a:t>30-</a:t>
            </a:r>
            <a:r>
              <a:rPr sz="2450" b="1" spc="210" dirty="0">
                <a:solidFill>
                  <a:srgbClr val="0F1626"/>
                </a:solidFill>
                <a:latin typeface="Arial"/>
                <a:cs typeface="Arial"/>
              </a:rPr>
              <a:t>45)</a:t>
            </a:r>
            <a:endParaRPr sz="2450">
              <a:latin typeface="Arial"/>
              <a:cs typeface="Arial"/>
            </a:endParaRPr>
          </a:p>
          <a:p>
            <a:pPr marL="18415" marR="5080" indent="-3175">
              <a:lnSpc>
                <a:spcPct val="117600"/>
              </a:lnSpc>
              <a:spcBef>
                <a:spcPts val="1055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Demonstrates</a:t>
            </a:r>
            <a:r>
              <a:rPr sz="2000" spc="254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the</a:t>
            </a:r>
            <a:r>
              <a:rPr sz="2000" spc="10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highest</a:t>
            </a:r>
            <a:r>
              <a:rPr sz="2000" spc="1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average</a:t>
            </a:r>
            <a:r>
              <a:rPr sz="2000" spc="22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order</a:t>
            </a:r>
            <a:r>
              <a:rPr sz="2000" spc="24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value</a:t>
            </a:r>
            <a:r>
              <a:rPr sz="2000" spc="22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4F5764"/>
                </a:solidFill>
                <a:latin typeface="Arial"/>
                <a:cs typeface="Arial"/>
              </a:rPr>
              <a:t>(AOV)</a:t>
            </a:r>
            <a:r>
              <a:rPr sz="2000" spc="40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across</a:t>
            </a:r>
            <a:r>
              <a:rPr sz="2000" spc="17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F5764"/>
                </a:solidFill>
                <a:latin typeface="Arial"/>
                <a:cs typeface="Arial"/>
              </a:rPr>
              <a:t>all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demographic</a:t>
            </a:r>
            <a:r>
              <a:rPr sz="2000" spc="35" dirty="0">
                <a:solidFill>
                  <a:srgbClr val="4F576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combinations.</a:t>
            </a:r>
            <a:r>
              <a:rPr sz="2000" spc="5" dirty="0">
                <a:solidFill>
                  <a:srgbClr val="4F576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Priority</a:t>
            </a:r>
            <a:r>
              <a:rPr sz="2000" spc="3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cohort</a:t>
            </a:r>
            <a:r>
              <a:rPr sz="2000" spc="32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for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  marketing retention.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59053" y="6062933"/>
            <a:ext cx="7416800" cy="160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F1626"/>
                </a:solidFill>
                <a:latin typeface="Arial"/>
                <a:cs typeface="Arial"/>
              </a:rPr>
              <a:t>Shipping</a:t>
            </a:r>
            <a:r>
              <a:rPr sz="2450" b="1" spc="9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50" b="1" spc="50" dirty="0">
                <a:solidFill>
                  <a:srgbClr val="0F1626"/>
                </a:solidFill>
                <a:latin typeface="Arial"/>
                <a:cs typeface="Arial"/>
              </a:rPr>
              <a:t>Type</a:t>
            </a:r>
            <a:r>
              <a:rPr sz="2450" b="1" spc="21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200" b="1" spc="70" dirty="0">
                <a:solidFill>
                  <a:srgbClr val="0F1626"/>
                </a:solidFill>
                <a:latin typeface="Arial"/>
                <a:cs typeface="Arial"/>
              </a:rPr>
              <a:t>x</a:t>
            </a:r>
            <a:r>
              <a:rPr sz="2200" b="1" spc="24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F1626"/>
                </a:solidFill>
                <a:latin typeface="Arial"/>
                <a:cs typeface="Arial"/>
              </a:rPr>
              <a:t>Delivery</a:t>
            </a:r>
            <a:r>
              <a:rPr sz="2450" b="1" spc="14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50" b="1" spc="-20" dirty="0">
                <a:solidFill>
                  <a:srgbClr val="0F1626"/>
                </a:solidFill>
                <a:latin typeface="Arial"/>
                <a:cs typeface="Arial"/>
              </a:rPr>
              <a:t>Time</a:t>
            </a:r>
            <a:endParaRPr sz="2450">
              <a:latin typeface="Arial"/>
              <a:cs typeface="Arial"/>
            </a:endParaRPr>
          </a:p>
          <a:p>
            <a:pPr marL="16510" marR="5080" indent="-4445">
              <a:lnSpc>
                <a:spcPct val="117600"/>
              </a:lnSpc>
              <a:spcBef>
                <a:spcPts val="1055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Standard</a:t>
            </a:r>
            <a:r>
              <a:rPr sz="2000" spc="3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shipping</a:t>
            </a:r>
            <a:r>
              <a:rPr sz="2000" spc="35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combined</a:t>
            </a:r>
            <a:r>
              <a:rPr sz="2000" spc="47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with</a:t>
            </a:r>
            <a:r>
              <a:rPr sz="2000" spc="10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longer</a:t>
            </a:r>
            <a:r>
              <a:rPr sz="2000" spc="37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delivery</a:t>
            </a:r>
            <a:r>
              <a:rPr sz="2000" spc="28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times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significantly</a:t>
            </a:r>
            <a:r>
              <a:rPr sz="2000" spc="459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45659"/>
                </a:solidFill>
                <a:latin typeface="Arial"/>
                <a:cs typeface="Arial"/>
              </a:rPr>
              <a:t>increased</a:t>
            </a:r>
            <a:r>
              <a:rPr sz="2000" spc="380" dirty="0">
                <a:solidFill>
                  <a:srgbClr val="6456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return</a:t>
            </a:r>
            <a:r>
              <a:rPr sz="2000" spc="1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probability</a:t>
            </a:r>
            <a:r>
              <a:rPr sz="2000" spc="34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compared</a:t>
            </a:r>
            <a:r>
              <a:rPr sz="2000" spc="3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to</a:t>
            </a:r>
            <a:r>
              <a:rPr sz="2000" spc="3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Express shipping.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864" y="696136"/>
            <a:ext cx="319913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135" dirty="0">
                <a:solidFill>
                  <a:srgbClr val="6462E2"/>
                </a:solidFill>
                <a:latin typeface="Arial"/>
                <a:cs typeface="Arial"/>
              </a:rPr>
              <a:t>DISTRIBUTION</a:t>
            </a:r>
            <a:r>
              <a:rPr sz="1700" b="1" spc="290" dirty="0">
                <a:solidFill>
                  <a:srgbClr val="6462E2"/>
                </a:solidFill>
                <a:latin typeface="Arial"/>
                <a:cs typeface="Arial"/>
              </a:rPr>
              <a:t> </a:t>
            </a:r>
            <a:r>
              <a:rPr sz="1700" b="1" spc="150" dirty="0">
                <a:solidFill>
                  <a:srgbClr val="6462E2"/>
                </a:solidFill>
                <a:latin typeface="Arial"/>
                <a:cs typeface="Arial"/>
              </a:rPr>
              <a:t>DYNAMICS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30"/>
              </a:spcBef>
            </a:pPr>
            <a:r>
              <a:rPr sz="4000" dirty="0">
                <a:solidFill>
                  <a:srgbClr val="0E1626"/>
                </a:solidFill>
              </a:rPr>
              <a:t>Skewness</a:t>
            </a:r>
            <a:r>
              <a:rPr sz="4000" spc="55" dirty="0">
                <a:solidFill>
                  <a:srgbClr val="0E1626"/>
                </a:solidFill>
              </a:rPr>
              <a:t> </a:t>
            </a:r>
            <a:r>
              <a:rPr sz="3900" b="0" spc="229" dirty="0">
                <a:solidFill>
                  <a:srgbClr val="0E1626"/>
                </a:solidFill>
                <a:latin typeface="Arial"/>
                <a:cs typeface="Arial"/>
              </a:rPr>
              <a:t>&amp;</a:t>
            </a:r>
            <a:r>
              <a:rPr sz="3900" b="0" spc="-22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E1626"/>
                </a:solidFill>
              </a:rPr>
              <a:t>Kurtosis</a:t>
            </a:r>
            <a:r>
              <a:rPr sz="4000" spc="-45" dirty="0">
                <a:solidFill>
                  <a:srgbClr val="0E1626"/>
                </a:solidFill>
              </a:rPr>
              <a:t> </a:t>
            </a:r>
            <a:r>
              <a:rPr sz="4000" spc="55" dirty="0">
                <a:solidFill>
                  <a:srgbClr val="0E1626"/>
                </a:solidFill>
              </a:rPr>
              <a:t>Interpretation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6816" y="1790757"/>
            <a:ext cx="822134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Evaluating</a:t>
            </a:r>
            <a:r>
              <a:rPr sz="2300" spc="29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asymmetry</a:t>
            </a:r>
            <a:r>
              <a:rPr sz="2300" spc="28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and</a:t>
            </a:r>
            <a:r>
              <a:rPr sz="2300" spc="9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tail</a:t>
            </a:r>
            <a:r>
              <a:rPr sz="2300" spc="2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285"/>
                </a:solidFill>
                <a:latin typeface="Arial"/>
                <a:cs typeface="Arial"/>
              </a:rPr>
              <a:t>risk</a:t>
            </a:r>
            <a:r>
              <a:rPr sz="2300" spc="15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47285"/>
                </a:solidFill>
                <a:latin typeface="Arial"/>
                <a:cs typeface="Arial"/>
              </a:rPr>
              <a:t>in</a:t>
            </a:r>
            <a:r>
              <a:rPr sz="2300" spc="55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47285"/>
                </a:solidFill>
                <a:latin typeface="Arial"/>
                <a:cs typeface="Arial"/>
              </a:rPr>
              <a:t>transaction</a:t>
            </a:r>
            <a:r>
              <a:rPr sz="2300" spc="310" dirty="0">
                <a:solidFill>
                  <a:srgbClr val="647285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647285"/>
                </a:solidFill>
                <a:latin typeface="Arial"/>
                <a:cs typeface="Arial"/>
              </a:rPr>
              <a:t>distributions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1021" y="5324740"/>
            <a:ext cx="6801484" cy="16059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395"/>
              </a:spcBef>
            </a:pPr>
            <a:r>
              <a:rPr sz="1950" b="1" spc="165" dirty="0">
                <a:solidFill>
                  <a:srgbClr val="4F5664"/>
                </a:solidFill>
                <a:latin typeface="Arial"/>
                <a:cs typeface="Arial"/>
              </a:rPr>
              <a:t>ASYMMETRY</a:t>
            </a:r>
            <a:endParaRPr sz="19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60"/>
              </a:spcBef>
            </a:pPr>
            <a:r>
              <a:rPr sz="2350" b="1" dirty="0">
                <a:solidFill>
                  <a:srgbClr val="0E1626"/>
                </a:solidFill>
                <a:latin typeface="Arial"/>
                <a:cs typeface="Arial"/>
              </a:rPr>
              <a:t>Positive</a:t>
            </a:r>
            <a:r>
              <a:rPr sz="2350" b="1" spc="44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350" b="1" spc="95" dirty="0">
                <a:solidFill>
                  <a:srgbClr val="0E1626"/>
                </a:solidFill>
                <a:latin typeface="Arial"/>
                <a:cs typeface="Arial"/>
              </a:rPr>
              <a:t>Skewness</a:t>
            </a:r>
            <a:endParaRPr sz="2350">
              <a:latin typeface="Arial"/>
              <a:cs typeface="Arial"/>
            </a:endParaRPr>
          </a:p>
          <a:p>
            <a:pPr marL="21590" marR="5080" indent="-9525">
              <a:lnSpc>
                <a:spcPct val="119200"/>
              </a:lnSpc>
              <a:spcBef>
                <a:spcPts val="1040"/>
              </a:spcBef>
            </a:pPr>
            <a:r>
              <a:rPr sz="1950" b="1" dirty="0">
                <a:solidFill>
                  <a:srgbClr val="4F5664"/>
                </a:solidFill>
                <a:latin typeface="Arial"/>
                <a:cs typeface="Arial"/>
              </a:rPr>
              <a:t>product_price</a:t>
            </a:r>
            <a:r>
              <a:rPr sz="1950" b="1" spc="25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4F5664"/>
                </a:solidFill>
                <a:latin typeface="Arial"/>
                <a:cs typeface="Arial"/>
              </a:rPr>
              <a:t>&amp; </a:t>
            </a:r>
            <a:r>
              <a:rPr sz="1950" b="1" dirty="0">
                <a:solidFill>
                  <a:srgbClr val="4F5664"/>
                </a:solidFill>
                <a:latin typeface="Arial"/>
                <a:cs typeface="Arial"/>
              </a:rPr>
              <a:t>final_price</a:t>
            </a:r>
            <a:r>
              <a:rPr sz="1950" b="1" spc="35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4F5664"/>
                </a:solidFill>
                <a:latin typeface="Arial"/>
                <a:cs typeface="Arial"/>
              </a:rPr>
              <a:t>exhibit</a:t>
            </a:r>
            <a:r>
              <a:rPr sz="1950" spc="27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strong</a:t>
            </a:r>
            <a:r>
              <a:rPr sz="1950" spc="27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4F5664"/>
                </a:solidFill>
                <a:latin typeface="Arial"/>
                <a:cs typeface="Arial"/>
              </a:rPr>
              <a:t>positive</a:t>
            </a:r>
            <a:r>
              <a:rPr sz="1950" spc="229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90" dirty="0">
                <a:solidFill>
                  <a:srgbClr val="4F5664"/>
                </a:solidFill>
                <a:latin typeface="Arial"/>
                <a:cs typeface="Arial"/>
              </a:rPr>
              <a:t>right-</a:t>
            </a:r>
            <a:r>
              <a:rPr sz="1950" spc="-10" dirty="0">
                <a:solidFill>
                  <a:srgbClr val="4F5664"/>
                </a:solidFill>
                <a:latin typeface="Arial"/>
                <a:cs typeface="Arial"/>
              </a:rPr>
              <a:t>skewness.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594" y="7070142"/>
            <a:ext cx="7267575" cy="749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20" marR="5080" indent="-8255">
              <a:lnSpc>
                <a:spcPct val="121900"/>
              </a:lnSpc>
              <a:spcBef>
                <a:spcPts val="90"/>
              </a:spcBef>
            </a:pP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Indicates</a:t>
            </a:r>
            <a:r>
              <a:rPr sz="1950" spc="13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that</a:t>
            </a:r>
            <a:r>
              <a:rPr sz="1950" spc="10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4F5664"/>
                </a:solidFill>
                <a:latin typeface="Arial"/>
                <a:cs typeface="Arial"/>
              </a:rPr>
              <a:t>the</a:t>
            </a:r>
            <a:r>
              <a:rPr sz="1950" spc="8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75" dirty="0">
                <a:solidFill>
                  <a:srgbClr val="4F5664"/>
                </a:solidFill>
                <a:latin typeface="Arial"/>
                <a:cs typeface="Arial"/>
              </a:rPr>
              <a:t>majority</a:t>
            </a:r>
            <a:r>
              <a:rPr sz="1950" spc="204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4F5664"/>
                </a:solidFill>
                <a:latin typeface="Arial"/>
                <a:cs typeface="Arial"/>
              </a:rPr>
              <a:t>of</a:t>
            </a:r>
            <a:r>
              <a:rPr sz="1950" spc="34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664"/>
                </a:solidFill>
                <a:latin typeface="Arial"/>
                <a:cs typeface="Arial"/>
              </a:rPr>
              <a:t>purchases</a:t>
            </a:r>
            <a:r>
              <a:rPr sz="1950" spc="26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are</a:t>
            </a:r>
            <a:r>
              <a:rPr sz="1950" spc="10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85" dirty="0">
                <a:solidFill>
                  <a:srgbClr val="4F5664"/>
                </a:solidFill>
                <a:latin typeface="Arial"/>
                <a:cs typeface="Arial"/>
              </a:rPr>
              <a:t>small-</a:t>
            </a:r>
            <a:r>
              <a:rPr sz="1950" spc="75" dirty="0">
                <a:solidFill>
                  <a:srgbClr val="4F5664"/>
                </a:solidFill>
                <a:latin typeface="Arial"/>
                <a:cs typeface="Arial"/>
              </a:rPr>
              <a:t>to-</a:t>
            </a:r>
            <a:r>
              <a:rPr sz="1950" spc="105" dirty="0">
                <a:solidFill>
                  <a:srgbClr val="4F5664"/>
                </a:solidFill>
                <a:latin typeface="Arial"/>
                <a:cs typeface="Arial"/>
              </a:rPr>
              <a:t>medium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sized,</a:t>
            </a:r>
            <a:r>
              <a:rPr sz="1950" spc="17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4F5664"/>
                </a:solidFill>
                <a:latin typeface="Arial"/>
                <a:cs typeface="Arial"/>
              </a:rPr>
              <a:t>accompanied</a:t>
            </a:r>
            <a:r>
              <a:rPr sz="1950" spc="24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4F5664"/>
                </a:solidFill>
                <a:latin typeface="Arial"/>
                <a:cs typeface="Arial"/>
              </a:rPr>
              <a:t>by</a:t>
            </a:r>
            <a:r>
              <a:rPr sz="1950" spc="22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664"/>
                </a:solidFill>
                <a:latin typeface="Arial"/>
                <a:cs typeface="Arial"/>
              </a:rPr>
              <a:t>a</a:t>
            </a:r>
            <a:r>
              <a:rPr sz="1950" spc="75" dirty="0">
                <a:solidFill>
                  <a:srgbClr val="4F5664"/>
                </a:solidFill>
                <a:latin typeface="Arial"/>
                <a:cs typeface="Arial"/>
              </a:rPr>
              <a:t> long</a:t>
            </a:r>
            <a:r>
              <a:rPr sz="1950" spc="10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tail</a:t>
            </a:r>
            <a:r>
              <a:rPr sz="1950" spc="11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4F5664"/>
                </a:solidFill>
                <a:latin typeface="Arial"/>
                <a:cs typeface="Arial"/>
              </a:rPr>
              <a:t>of</a:t>
            </a:r>
            <a:r>
              <a:rPr sz="1950" spc="28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high-</a:t>
            </a:r>
            <a:r>
              <a:rPr sz="1950" spc="60" dirty="0">
                <a:solidFill>
                  <a:srgbClr val="4F5664"/>
                </a:solidFill>
                <a:latin typeface="Arial"/>
                <a:cs typeface="Arial"/>
              </a:rPr>
              <a:t>value</a:t>
            </a:r>
            <a:r>
              <a:rPr sz="1950" spc="18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664"/>
                </a:solidFill>
                <a:latin typeface="Arial"/>
                <a:cs typeface="Arial"/>
              </a:rPr>
              <a:t>purchases.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3644" y="5504535"/>
            <a:ext cx="5497195" cy="12446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345"/>
              </a:spcBef>
            </a:pPr>
            <a:r>
              <a:rPr sz="1950" b="1" spc="145" dirty="0">
                <a:solidFill>
                  <a:srgbClr val="B826CA"/>
                </a:solidFill>
                <a:latin typeface="Arial"/>
                <a:cs typeface="Arial"/>
              </a:rPr>
              <a:t>TAIL</a:t>
            </a:r>
            <a:r>
              <a:rPr sz="1950" b="1" spc="200" dirty="0">
                <a:solidFill>
                  <a:srgbClr val="B826CA"/>
                </a:solidFill>
                <a:latin typeface="Arial"/>
                <a:cs typeface="Arial"/>
              </a:rPr>
              <a:t> </a:t>
            </a:r>
            <a:r>
              <a:rPr sz="1950" b="1" spc="145" dirty="0">
                <a:solidFill>
                  <a:srgbClr val="B826CA"/>
                </a:solidFill>
                <a:latin typeface="Arial"/>
                <a:cs typeface="Arial"/>
              </a:rPr>
              <a:t>HEAVY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350" b="1" spc="110" dirty="0">
                <a:solidFill>
                  <a:srgbClr val="0E1626"/>
                </a:solidFill>
                <a:latin typeface="Arial"/>
                <a:cs typeface="Arial"/>
              </a:rPr>
              <a:t>High</a:t>
            </a:r>
            <a:r>
              <a:rPr sz="2350" b="1" spc="-16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0E1626"/>
                </a:solidFill>
                <a:latin typeface="Arial"/>
                <a:cs typeface="Arial"/>
              </a:rPr>
              <a:t>Kurtosis</a:t>
            </a:r>
            <a:endParaRPr sz="23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550"/>
              </a:spcBef>
            </a:pPr>
            <a:r>
              <a:rPr sz="1950" b="1" dirty="0">
                <a:solidFill>
                  <a:srgbClr val="4F5664"/>
                </a:solidFill>
                <a:latin typeface="Arial"/>
                <a:cs typeface="Arial"/>
              </a:rPr>
              <a:t>final_price</a:t>
            </a:r>
            <a:r>
              <a:rPr sz="1950" b="1" spc="46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664"/>
                </a:solidFill>
                <a:latin typeface="Arial"/>
                <a:cs typeface="Arial"/>
              </a:rPr>
              <a:t>demonstrates</a:t>
            </a:r>
            <a:r>
              <a:rPr sz="1950" spc="434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75" dirty="0">
                <a:solidFill>
                  <a:srgbClr val="4F5664"/>
                </a:solidFill>
                <a:latin typeface="Arial"/>
                <a:cs typeface="Arial"/>
              </a:rPr>
              <a:t>high</a:t>
            </a:r>
            <a:r>
              <a:rPr sz="1950" spc="13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4F5664"/>
                </a:solidFill>
                <a:latin typeface="Arial"/>
                <a:cs typeface="Arial"/>
              </a:rPr>
              <a:t>kurtosis</a:t>
            </a:r>
            <a:r>
              <a:rPr sz="1950" spc="31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664"/>
                </a:solidFill>
                <a:latin typeface="Arial"/>
                <a:cs typeface="Arial"/>
              </a:rPr>
              <a:t>values.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1272" y="6904767"/>
            <a:ext cx="7833995" cy="749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810">
              <a:lnSpc>
                <a:spcPct val="121900"/>
              </a:lnSpc>
              <a:spcBef>
                <a:spcPts val="90"/>
              </a:spcBef>
            </a:pPr>
            <a:r>
              <a:rPr sz="1950" spc="75" dirty="0">
                <a:solidFill>
                  <a:srgbClr val="4F5664"/>
                </a:solidFill>
                <a:latin typeface="Arial"/>
                <a:cs typeface="Arial"/>
              </a:rPr>
              <a:t>Confirms</a:t>
            </a:r>
            <a:r>
              <a:rPr sz="1950" spc="22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heavy</a:t>
            </a:r>
            <a:r>
              <a:rPr sz="1950" spc="18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tails</a:t>
            </a:r>
            <a:r>
              <a:rPr sz="1950" spc="3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in</a:t>
            </a:r>
            <a:r>
              <a:rPr sz="1950" spc="16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spending</a:t>
            </a:r>
            <a:r>
              <a:rPr sz="1950" spc="23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distribution,</a:t>
            </a:r>
            <a:r>
              <a:rPr sz="1950" spc="33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85" dirty="0">
                <a:solidFill>
                  <a:srgbClr val="4F5664"/>
                </a:solidFill>
                <a:latin typeface="Arial"/>
                <a:cs typeface="Arial"/>
              </a:rPr>
              <a:t>proving</a:t>
            </a:r>
            <a:r>
              <a:rPr sz="1950" spc="23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4F5664"/>
                </a:solidFill>
                <a:latin typeface="Arial"/>
                <a:cs typeface="Arial"/>
              </a:rPr>
              <a:t>presence</a:t>
            </a:r>
            <a:r>
              <a:rPr sz="1950" spc="204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4F5664"/>
                </a:solidFill>
                <a:latin typeface="Arial"/>
                <a:cs typeface="Arial"/>
              </a:rPr>
              <a:t>of </a:t>
            </a:r>
            <a:r>
              <a:rPr sz="1950" spc="50" dirty="0">
                <a:solidFill>
                  <a:srgbClr val="4F5664"/>
                </a:solidFill>
                <a:latin typeface="Arial"/>
                <a:cs typeface="Arial"/>
              </a:rPr>
              <a:t>infrequent,</a:t>
            </a:r>
            <a:r>
              <a:rPr sz="1950" spc="27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extreme</a:t>
            </a:r>
            <a:r>
              <a:rPr sz="1950" spc="135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55" dirty="0">
                <a:solidFill>
                  <a:srgbClr val="4F5664"/>
                </a:solidFill>
                <a:latin typeface="Arial"/>
                <a:cs typeface="Arial"/>
              </a:rPr>
              <a:t>high-</a:t>
            </a:r>
            <a:r>
              <a:rPr sz="1950" spc="60" dirty="0">
                <a:solidFill>
                  <a:srgbClr val="4F5664"/>
                </a:solidFill>
                <a:latin typeface="Arial"/>
                <a:cs typeface="Arial"/>
              </a:rPr>
              <a:t>value</a:t>
            </a:r>
            <a:r>
              <a:rPr sz="1950" spc="19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4F5664"/>
                </a:solidFill>
                <a:latin typeface="Arial"/>
                <a:cs typeface="Arial"/>
              </a:rPr>
              <a:t>premium</a:t>
            </a:r>
            <a:r>
              <a:rPr sz="1950" spc="170" dirty="0">
                <a:solidFill>
                  <a:srgbClr val="4F566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4F5664"/>
                </a:solidFill>
                <a:latin typeface="Arial"/>
                <a:cs typeface="Arial"/>
              </a:rPr>
              <a:t>purchases.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232" y="696136"/>
            <a:ext cx="256286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145" dirty="0">
                <a:solidFill>
                  <a:srgbClr val="6462E4"/>
                </a:solidFill>
                <a:latin typeface="Arial"/>
                <a:cs typeface="Arial"/>
              </a:rPr>
              <a:t>SUMMARY</a:t>
            </a:r>
            <a:r>
              <a:rPr sz="1700" b="1" spc="345" dirty="0">
                <a:solidFill>
                  <a:srgbClr val="6462E4"/>
                </a:solidFill>
                <a:latin typeface="Arial"/>
                <a:cs typeface="Arial"/>
              </a:rPr>
              <a:t> </a:t>
            </a:r>
            <a:r>
              <a:rPr sz="1700" b="1" spc="145" dirty="0">
                <a:solidFill>
                  <a:srgbClr val="6462E4"/>
                </a:solidFill>
                <a:latin typeface="Arial"/>
                <a:cs typeface="Arial"/>
              </a:rPr>
              <a:t>INSIGHTS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30"/>
              </a:spcBef>
            </a:pPr>
            <a:r>
              <a:rPr sz="4000" spc="70" dirty="0">
                <a:solidFill>
                  <a:srgbClr val="0F1626"/>
                </a:solidFill>
              </a:rPr>
              <a:t>Key</a:t>
            </a:r>
            <a:r>
              <a:rPr sz="4000" spc="-60" dirty="0">
                <a:solidFill>
                  <a:srgbClr val="0F1626"/>
                </a:solidFill>
              </a:rPr>
              <a:t> </a:t>
            </a:r>
            <a:r>
              <a:rPr sz="4000" dirty="0">
                <a:solidFill>
                  <a:srgbClr val="0F1626"/>
                </a:solidFill>
              </a:rPr>
              <a:t>Statistical</a:t>
            </a:r>
            <a:r>
              <a:rPr sz="4000" spc="325" dirty="0">
                <a:solidFill>
                  <a:srgbClr val="0F1626"/>
                </a:solidFill>
              </a:rPr>
              <a:t> </a:t>
            </a:r>
            <a:r>
              <a:rPr sz="4000" spc="55" dirty="0">
                <a:solidFill>
                  <a:srgbClr val="0F1626"/>
                </a:solidFill>
              </a:rPr>
              <a:t>Takeaways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85942" y="1790757"/>
            <a:ext cx="759015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Five</a:t>
            </a:r>
            <a:r>
              <a:rPr sz="2300" spc="9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667083"/>
                </a:solidFill>
                <a:latin typeface="Arial"/>
                <a:cs typeface="Arial"/>
              </a:rPr>
              <a:t>core</a:t>
            </a:r>
            <a:r>
              <a:rPr sz="2300" spc="7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takeaways</a:t>
            </a:r>
            <a:r>
              <a:rPr sz="2300" spc="31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667083"/>
                </a:solidFill>
                <a:latin typeface="Arial"/>
                <a:cs typeface="Arial"/>
              </a:rPr>
              <a:t>synthesized</a:t>
            </a:r>
            <a:r>
              <a:rPr sz="2300" spc="19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667083"/>
                </a:solidFill>
                <a:latin typeface="Arial"/>
                <a:cs typeface="Arial"/>
              </a:rPr>
              <a:t>from</a:t>
            </a:r>
            <a:r>
              <a:rPr sz="2300" spc="4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667083"/>
                </a:solidFill>
                <a:latin typeface="Arial"/>
                <a:cs typeface="Arial"/>
              </a:rPr>
              <a:t>the</a:t>
            </a:r>
            <a:r>
              <a:rPr sz="2300" spc="7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667083"/>
                </a:solidFill>
                <a:latin typeface="Arial"/>
                <a:cs typeface="Arial"/>
              </a:rPr>
              <a:t>data</a:t>
            </a:r>
            <a:r>
              <a:rPr sz="2300" spc="4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667083"/>
                </a:solidFill>
                <a:latin typeface="Arial"/>
                <a:cs typeface="Arial"/>
              </a:rPr>
              <a:t>analysis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3903" y="4712373"/>
            <a:ext cx="4799965" cy="1250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1.</a:t>
            </a:r>
            <a:r>
              <a:rPr sz="2400" b="1" spc="-16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60" dirty="0">
                <a:solidFill>
                  <a:srgbClr val="0F1626"/>
                </a:solidFill>
                <a:latin typeface="Arial"/>
                <a:cs typeface="Arial"/>
              </a:rPr>
              <a:t>Right-</a:t>
            </a:r>
            <a:r>
              <a:rPr sz="2400" b="1" spc="85" dirty="0">
                <a:solidFill>
                  <a:srgbClr val="0F1626"/>
                </a:solidFill>
                <a:latin typeface="Arial"/>
                <a:cs typeface="Arial"/>
              </a:rPr>
              <a:t>Skewed</a:t>
            </a:r>
            <a:r>
              <a:rPr sz="2400" b="1" spc="19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40" dirty="0">
                <a:solidFill>
                  <a:srgbClr val="0F1626"/>
                </a:solidFill>
                <a:latin typeface="Arial"/>
                <a:cs typeface="Arial"/>
              </a:rPr>
              <a:t>Revenue</a:t>
            </a:r>
            <a:endParaRPr sz="2400">
              <a:latin typeface="Arial"/>
              <a:cs typeface="Arial"/>
            </a:endParaRPr>
          </a:p>
          <a:p>
            <a:pPr marL="28575" marR="5080" indent="-4445">
              <a:lnSpc>
                <a:spcPct val="116300"/>
              </a:lnSpc>
              <a:spcBef>
                <a:spcPts val="1160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Revenue</a:t>
            </a:r>
            <a:r>
              <a:rPr sz="2000" spc="2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is</a:t>
            </a:r>
            <a:r>
              <a:rPr sz="2000" spc="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right-</a:t>
            </a: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skewed,</a:t>
            </a:r>
            <a:r>
              <a:rPr sz="2000" spc="40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dominated</a:t>
            </a:r>
            <a:r>
              <a:rPr sz="2000" spc="30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F5764"/>
                </a:solidFill>
                <a:latin typeface="Arial"/>
                <a:cs typeface="Arial"/>
              </a:rPr>
              <a:t>by </a:t>
            </a:r>
            <a:r>
              <a:rPr sz="2000" spc="60" dirty="0">
                <a:solidFill>
                  <a:srgbClr val="4F5764"/>
                </a:solidFill>
                <a:latin typeface="Arial"/>
                <a:cs typeface="Arial"/>
              </a:rPr>
              <a:t>small-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to-</a:t>
            </a:r>
            <a:r>
              <a:rPr sz="2000" spc="80" dirty="0">
                <a:solidFill>
                  <a:srgbClr val="4F5764"/>
                </a:solidFill>
                <a:latin typeface="Arial"/>
                <a:cs typeface="Arial"/>
              </a:rPr>
              <a:t>medium</a:t>
            </a:r>
            <a:r>
              <a:rPr sz="2000" spc="1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everyday</a:t>
            </a:r>
            <a:r>
              <a:rPr sz="2000" spc="1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transactions.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2681" y="4539124"/>
            <a:ext cx="4415155" cy="1597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2.</a:t>
            </a:r>
            <a:r>
              <a:rPr sz="2400" b="1" spc="14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55" dirty="0">
                <a:solidFill>
                  <a:srgbClr val="0F1626"/>
                </a:solidFill>
                <a:latin typeface="Arial"/>
                <a:cs typeface="Arial"/>
              </a:rPr>
              <a:t>High-</a:t>
            </a:r>
            <a:r>
              <a:rPr sz="2400" b="1" spc="60" dirty="0">
                <a:solidFill>
                  <a:srgbClr val="0F1626"/>
                </a:solidFill>
                <a:latin typeface="Arial"/>
                <a:cs typeface="Arial"/>
              </a:rPr>
              <a:t>Value</a:t>
            </a:r>
            <a:r>
              <a:rPr sz="2400" b="1" spc="114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F1626"/>
                </a:solidFill>
                <a:latin typeface="Arial"/>
                <a:cs typeface="Arial"/>
              </a:rPr>
              <a:t>Drivers</a:t>
            </a:r>
            <a:endParaRPr sz="2400">
              <a:latin typeface="Arial"/>
              <a:cs typeface="Arial"/>
            </a:endParaRPr>
          </a:p>
          <a:p>
            <a:pPr marL="12700" marR="5080" indent="4445">
              <a:lnSpc>
                <a:spcPct val="114999"/>
              </a:lnSpc>
              <a:spcBef>
                <a:spcPts val="1190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A</a:t>
            </a:r>
            <a:r>
              <a:rPr sz="2000" spc="15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limited</a:t>
            </a:r>
            <a:r>
              <a:rPr sz="2000" spc="2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number</a:t>
            </a:r>
            <a:r>
              <a:rPr sz="2000" spc="3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of</a:t>
            </a:r>
            <a:r>
              <a:rPr sz="2000" spc="4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premium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transactions</a:t>
            </a:r>
            <a:r>
              <a:rPr sz="2000" spc="31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drive</a:t>
            </a:r>
            <a:r>
              <a:rPr sz="2000" spc="15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a</a:t>
            </a:r>
            <a:r>
              <a:rPr sz="2000" spc="15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disproportionate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revenue</a:t>
            </a:r>
            <a:r>
              <a:rPr sz="2000" spc="19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share.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79482" y="4712373"/>
            <a:ext cx="4737100" cy="1257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3.</a:t>
            </a:r>
            <a:r>
              <a:rPr sz="2400" b="1" spc="26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114" dirty="0">
                <a:solidFill>
                  <a:srgbClr val="0F1626"/>
                </a:solidFill>
                <a:latin typeface="Arial"/>
                <a:cs typeface="Arial"/>
              </a:rPr>
              <a:t>Moderate</a:t>
            </a:r>
            <a:r>
              <a:rPr sz="2400" b="1" spc="2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F1626"/>
                </a:solidFill>
                <a:latin typeface="Arial"/>
                <a:cs typeface="Arial"/>
              </a:rPr>
              <a:t>Discounts</a:t>
            </a:r>
            <a:endParaRPr sz="2400">
              <a:latin typeface="Arial"/>
              <a:cs typeface="Arial"/>
            </a:endParaRPr>
          </a:p>
          <a:p>
            <a:pPr marL="13970" marR="5080" indent="-1270">
              <a:lnSpc>
                <a:spcPct val="121400"/>
              </a:lnSpc>
              <a:spcBef>
                <a:spcPts val="975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Moderate</a:t>
            </a:r>
            <a:r>
              <a:rPr sz="2000" spc="36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discounts</a:t>
            </a:r>
            <a:r>
              <a:rPr sz="2000" spc="42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F5764"/>
                </a:solidFill>
                <a:latin typeface="Arial"/>
                <a:cs typeface="Arial"/>
              </a:rPr>
              <a:t>(10-</a:t>
            </a:r>
            <a:r>
              <a:rPr sz="2000" spc="-55" dirty="0">
                <a:solidFill>
                  <a:srgbClr val="4F5764"/>
                </a:solidFill>
                <a:latin typeface="Arial"/>
                <a:cs typeface="Arial"/>
              </a:rPr>
              <a:t>15</a:t>
            </a:r>
            <a:r>
              <a:rPr sz="2000" spc="-24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1900" spc="100" dirty="0">
                <a:solidFill>
                  <a:srgbClr val="4F5764"/>
                </a:solidFill>
                <a:latin typeface="Arial"/>
                <a:cs typeface="Arial"/>
              </a:rPr>
              <a:t>%)</a:t>
            </a:r>
            <a:r>
              <a:rPr sz="1900" spc="40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maximize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final</a:t>
            </a:r>
            <a:r>
              <a:rPr sz="2000" spc="31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revenue</a:t>
            </a:r>
            <a:r>
              <a:rPr sz="2000" spc="38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without</a:t>
            </a:r>
            <a:r>
              <a:rPr sz="2000" spc="35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margin</a:t>
            </a:r>
            <a:r>
              <a:rPr sz="2000" spc="25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erosion.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5866" y="7366241"/>
            <a:ext cx="7696834" cy="1250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4.</a:t>
            </a:r>
            <a:r>
              <a:rPr sz="2400" b="1" spc="32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Genuine</a:t>
            </a:r>
            <a:r>
              <a:rPr sz="2400" b="1" spc="17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F1626"/>
                </a:solidFill>
                <a:latin typeface="Arial"/>
                <a:cs typeface="Arial"/>
              </a:rPr>
              <a:t>Premium</a:t>
            </a:r>
            <a:r>
              <a:rPr sz="2400" b="1" spc="13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F1626"/>
                </a:solidFill>
                <a:latin typeface="Arial"/>
                <a:cs typeface="Arial"/>
              </a:rPr>
              <a:t>Outliers</a:t>
            </a:r>
            <a:endParaRPr sz="2400">
              <a:latin typeface="Arial"/>
              <a:cs typeface="Arial"/>
            </a:endParaRPr>
          </a:p>
          <a:p>
            <a:pPr marL="16510" marR="5080" indent="-4445">
              <a:lnSpc>
                <a:spcPct val="118800"/>
              </a:lnSpc>
              <a:spcBef>
                <a:spcPts val="1040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Outliers</a:t>
            </a:r>
            <a:r>
              <a:rPr sz="2000" spc="229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represent</a:t>
            </a:r>
            <a:r>
              <a:rPr sz="2000" spc="254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valid</a:t>
            </a:r>
            <a:r>
              <a:rPr sz="2000" spc="27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high-value</a:t>
            </a:r>
            <a:r>
              <a:rPr sz="2000" spc="2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orders</a:t>
            </a:r>
            <a:r>
              <a:rPr sz="2000" spc="23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rather</a:t>
            </a:r>
            <a:r>
              <a:rPr sz="2000" spc="229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than</a:t>
            </a:r>
            <a:r>
              <a:rPr sz="2000" spc="11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operational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data</a:t>
            </a:r>
            <a:r>
              <a:rPr sz="2000" spc="204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errors.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4390" y="7358367"/>
            <a:ext cx="7191375" cy="1257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55" dirty="0">
                <a:solidFill>
                  <a:srgbClr val="0F1626"/>
                </a:solidFill>
                <a:latin typeface="Arial"/>
                <a:cs typeface="Arial"/>
              </a:rPr>
              <a:t>5.</a:t>
            </a:r>
            <a:r>
              <a:rPr sz="2400" b="1" spc="7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0F1626"/>
                </a:solidFill>
                <a:latin typeface="Arial"/>
                <a:cs typeface="Arial"/>
              </a:rPr>
              <a:t>Delivery-</a:t>
            </a:r>
            <a:r>
              <a:rPr sz="2400" b="1" spc="80" dirty="0">
                <a:solidFill>
                  <a:srgbClr val="0F1626"/>
                </a:solidFill>
                <a:latin typeface="Arial"/>
                <a:cs typeface="Arial"/>
              </a:rPr>
              <a:t>Driven</a:t>
            </a:r>
            <a:r>
              <a:rPr sz="2400" b="1" spc="-26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F1626"/>
                </a:solidFill>
                <a:latin typeface="Arial"/>
                <a:cs typeface="Arial"/>
              </a:rPr>
              <a:t>Returns</a:t>
            </a:r>
            <a:endParaRPr sz="2400">
              <a:latin typeface="Arial"/>
              <a:cs typeface="Arial"/>
            </a:endParaRPr>
          </a:p>
          <a:p>
            <a:pPr marL="17145" marR="5080" indent="-3810">
              <a:lnSpc>
                <a:spcPct val="118800"/>
              </a:lnSpc>
              <a:spcBef>
                <a:spcPts val="1100"/>
              </a:spcBef>
            </a:pP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Extended</a:t>
            </a:r>
            <a:r>
              <a:rPr sz="2000" spc="33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764"/>
                </a:solidFill>
                <a:latin typeface="Arial"/>
                <a:cs typeface="Arial"/>
              </a:rPr>
              <a:t>delivery</a:t>
            </a:r>
            <a:r>
              <a:rPr sz="2000" spc="25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lead</a:t>
            </a:r>
            <a:r>
              <a:rPr sz="2000" spc="18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times</a:t>
            </a:r>
            <a:r>
              <a:rPr sz="2000" spc="17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correlate</a:t>
            </a:r>
            <a:r>
              <a:rPr sz="2000" spc="2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4F5764"/>
                </a:solidFill>
                <a:latin typeface="Arial"/>
                <a:cs typeface="Arial"/>
              </a:rPr>
              <a:t>directly</a:t>
            </a:r>
            <a:r>
              <a:rPr sz="2000" spc="3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764"/>
                </a:solidFill>
                <a:latin typeface="Arial"/>
                <a:cs typeface="Arial"/>
              </a:rPr>
              <a:t>with</a:t>
            </a:r>
            <a:r>
              <a:rPr sz="2000" spc="4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elevated </a:t>
            </a:r>
            <a:r>
              <a:rPr sz="2000" spc="70" dirty="0">
                <a:solidFill>
                  <a:srgbClr val="4F5764"/>
                </a:solidFill>
                <a:latin typeface="Arial"/>
                <a:cs typeface="Arial"/>
              </a:rPr>
              <a:t>product</a:t>
            </a:r>
            <a:r>
              <a:rPr sz="2000" spc="265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764"/>
                </a:solidFill>
                <a:latin typeface="Arial"/>
                <a:cs typeface="Arial"/>
              </a:rPr>
              <a:t>return</a:t>
            </a:r>
            <a:r>
              <a:rPr sz="2000" spc="100" dirty="0">
                <a:solidFill>
                  <a:srgbClr val="4F57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764"/>
                </a:solidFill>
                <a:latin typeface="Arial"/>
                <a:cs typeface="Arial"/>
              </a:rPr>
              <a:t>rates.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370" y="700073"/>
            <a:ext cx="318770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114" dirty="0">
                <a:solidFill>
                  <a:srgbClr val="6667E9"/>
                </a:solidFill>
                <a:latin typeface="Arial"/>
                <a:cs typeface="Arial"/>
              </a:rPr>
              <a:t>STRATEGIC</a:t>
            </a:r>
            <a:r>
              <a:rPr sz="1700" b="1" spc="315" dirty="0">
                <a:solidFill>
                  <a:srgbClr val="6667E9"/>
                </a:solidFill>
                <a:latin typeface="Arial"/>
                <a:cs typeface="Arial"/>
              </a:rPr>
              <a:t> </a:t>
            </a:r>
            <a:r>
              <a:rPr sz="1700" b="1" spc="125" dirty="0">
                <a:solidFill>
                  <a:srgbClr val="6667E9"/>
                </a:solidFill>
                <a:latin typeface="Arial"/>
                <a:cs typeface="Arial"/>
              </a:rPr>
              <a:t>ACTION</a:t>
            </a:r>
            <a:r>
              <a:rPr sz="1700" b="1" spc="275" dirty="0">
                <a:solidFill>
                  <a:srgbClr val="6667E9"/>
                </a:solidFill>
                <a:latin typeface="Arial"/>
                <a:cs typeface="Arial"/>
              </a:rPr>
              <a:t> </a:t>
            </a:r>
            <a:r>
              <a:rPr sz="1700" b="1" spc="100" dirty="0">
                <a:solidFill>
                  <a:srgbClr val="6667E9"/>
                </a:solidFill>
                <a:latin typeface="Arial"/>
                <a:cs typeface="Arial"/>
              </a:rPr>
              <a:t>PLAN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4887" y="1043026"/>
            <a:ext cx="6973570" cy="721995"/>
          </a:xfrm>
          <a:custGeom>
            <a:avLst/>
            <a:gdLst/>
            <a:ahLst/>
            <a:cxnLst/>
            <a:rect l="l" t="t" r="r" b="b"/>
            <a:pathLst>
              <a:path w="6973570" h="721994">
                <a:moveTo>
                  <a:pt x="6973239" y="721791"/>
                </a:moveTo>
                <a:lnTo>
                  <a:pt x="0" y="721791"/>
                </a:lnTo>
                <a:lnTo>
                  <a:pt x="0" y="0"/>
                </a:lnTo>
                <a:lnTo>
                  <a:pt x="6973239" y="0"/>
                </a:lnTo>
                <a:lnTo>
                  <a:pt x="6973239" y="721791"/>
                </a:lnTo>
                <a:close/>
              </a:path>
            </a:pathLst>
          </a:custGeom>
          <a:solidFill>
            <a:srgbClr val="0C15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14"/>
              </a:spcBef>
            </a:pPr>
            <a:r>
              <a:rPr spc="50" dirty="0"/>
              <a:t>Strategic</a:t>
            </a:r>
            <a:r>
              <a:rPr dirty="0"/>
              <a:t> </a:t>
            </a:r>
            <a:r>
              <a:rPr spc="75" dirty="0"/>
              <a:t>Recommendations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2374" y="1798632"/>
            <a:ext cx="675767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95A3B5"/>
                </a:solidFill>
                <a:latin typeface="Arial"/>
                <a:cs typeface="Arial"/>
              </a:rPr>
              <a:t>Actionable</a:t>
            </a:r>
            <a:r>
              <a:rPr sz="2200" spc="400" dirty="0">
                <a:solidFill>
                  <a:srgbClr val="95A3B5"/>
                </a:solidFill>
                <a:latin typeface="Arial"/>
                <a:cs typeface="Arial"/>
              </a:rPr>
              <a:t> </a:t>
            </a:r>
            <a:r>
              <a:rPr sz="2200" spc="110" dirty="0">
                <a:solidFill>
                  <a:srgbClr val="95A3B5"/>
                </a:solidFill>
                <a:latin typeface="Arial"/>
                <a:cs typeface="Arial"/>
              </a:rPr>
              <a:t>next</a:t>
            </a:r>
            <a:r>
              <a:rPr sz="2200" spc="185" dirty="0">
                <a:solidFill>
                  <a:srgbClr val="95A3B5"/>
                </a:solidFill>
                <a:latin typeface="Arial"/>
                <a:cs typeface="Arial"/>
              </a:rPr>
              <a:t> </a:t>
            </a:r>
            <a:r>
              <a:rPr sz="2200" spc="90" dirty="0">
                <a:solidFill>
                  <a:srgbClr val="95A3B5"/>
                </a:solidFill>
                <a:latin typeface="Arial"/>
                <a:cs typeface="Arial"/>
              </a:rPr>
              <a:t>steps</a:t>
            </a:r>
            <a:r>
              <a:rPr sz="2200" spc="270" dirty="0">
                <a:solidFill>
                  <a:srgbClr val="95A3B5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95A3B5"/>
                </a:solidFill>
                <a:latin typeface="Arial"/>
                <a:cs typeface="Arial"/>
              </a:rPr>
              <a:t>based</a:t>
            </a:r>
            <a:r>
              <a:rPr sz="2200" spc="225" dirty="0">
                <a:solidFill>
                  <a:srgbClr val="95A3B5"/>
                </a:solidFill>
                <a:latin typeface="Arial"/>
                <a:cs typeface="Arial"/>
              </a:rPr>
              <a:t> </a:t>
            </a:r>
            <a:r>
              <a:rPr sz="2200" spc="105" dirty="0">
                <a:solidFill>
                  <a:srgbClr val="95A3B5"/>
                </a:solidFill>
                <a:latin typeface="Arial"/>
                <a:cs typeface="Arial"/>
              </a:rPr>
              <a:t>on</a:t>
            </a:r>
            <a:r>
              <a:rPr sz="2200" spc="135" dirty="0">
                <a:solidFill>
                  <a:srgbClr val="95A3B5"/>
                </a:solidFill>
                <a:latin typeface="Arial"/>
                <a:cs typeface="Arial"/>
              </a:rPr>
              <a:t> </a:t>
            </a:r>
            <a:r>
              <a:rPr sz="2200" spc="60" dirty="0">
                <a:solidFill>
                  <a:srgbClr val="95A3B5"/>
                </a:solidFill>
                <a:latin typeface="Arial"/>
                <a:cs typeface="Arial"/>
              </a:rPr>
              <a:t>statistical</a:t>
            </a:r>
            <a:r>
              <a:rPr sz="2200" spc="105" dirty="0">
                <a:solidFill>
                  <a:srgbClr val="95A3B5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95A3B5"/>
                </a:solidFill>
                <a:latin typeface="Arial"/>
                <a:cs typeface="Arial"/>
              </a:rPr>
              <a:t>findings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778" y="5806754"/>
            <a:ext cx="3480435" cy="383438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sz="2350" b="1" dirty="0">
                <a:solidFill>
                  <a:srgbClr val="F4F9F9"/>
                </a:solidFill>
                <a:latin typeface="Arial"/>
                <a:cs typeface="Arial"/>
              </a:rPr>
              <a:t>1.</a:t>
            </a:r>
            <a:r>
              <a:rPr sz="2350" b="1" spc="-65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55" dirty="0">
                <a:solidFill>
                  <a:srgbClr val="F4F9F9"/>
                </a:solidFill>
                <a:latin typeface="Arial"/>
                <a:cs typeface="Arial"/>
              </a:rPr>
              <a:t>Optimize</a:t>
            </a:r>
            <a:r>
              <a:rPr sz="2350" b="1" spc="160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F4F9F9"/>
                </a:solidFill>
                <a:latin typeface="Arial"/>
                <a:cs typeface="Arial"/>
              </a:rPr>
              <a:t>Promotions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5919" y="6356882"/>
            <a:ext cx="4806950" cy="319959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Cap</a:t>
            </a:r>
            <a:r>
              <a:rPr sz="2000" spc="204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routine</a:t>
            </a:r>
            <a:r>
              <a:rPr sz="2000" spc="28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discount</a:t>
            </a:r>
            <a:r>
              <a:rPr sz="2000" spc="32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C3D1E2"/>
                </a:solidFill>
                <a:latin typeface="Arial"/>
                <a:cs typeface="Arial"/>
              </a:rPr>
              <a:t>offers</a:t>
            </a:r>
            <a:r>
              <a:rPr sz="2000" spc="15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C3D1E2"/>
                </a:solidFill>
                <a:latin typeface="Arial"/>
                <a:cs typeface="Arial"/>
              </a:rPr>
              <a:t>at</a:t>
            </a:r>
            <a:r>
              <a:rPr sz="2000" spc="-8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10-15%</a:t>
            </a:r>
            <a:r>
              <a:rPr sz="2000" spc="36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C3D1E2"/>
                </a:solidFill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0776" y="6727007"/>
            <a:ext cx="4331970" cy="34925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safeguard</a:t>
            </a:r>
            <a:r>
              <a:rPr sz="2000" spc="39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margins</a:t>
            </a:r>
            <a:r>
              <a:rPr sz="2000" spc="40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while</a:t>
            </a:r>
            <a:r>
              <a:rPr sz="2000" spc="229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maintaining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1829" y="7076171"/>
            <a:ext cx="2689860" cy="34671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000" spc="60" dirty="0">
                <a:solidFill>
                  <a:srgbClr val="C3D1E2"/>
                </a:solidFill>
                <a:latin typeface="Arial"/>
                <a:cs typeface="Arial"/>
              </a:rPr>
              <a:t>high</a:t>
            </a:r>
            <a:r>
              <a:rPr sz="2000" spc="1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purchase</a:t>
            </a:r>
            <a:r>
              <a:rPr sz="2000" spc="29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volume.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7628" y="5806754"/>
            <a:ext cx="3996054" cy="43434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sz="2350" b="1" dirty="0">
                <a:solidFill>
                  <a:srgbClr val="F4F9F9"/>
                </a:solidFill>
                <a:latin typeface="Arial"/>
                <a:cs typeface="Arial"/>
              </a:rPr>
              <a:t>2.</a:t>
            </a:r>
            <a:r>
              <a:rPr sz="2350" b="1" spc="240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80" dirty="0">
                <a:solidFill>
                  <a:srgbClr val="F4F9F9"/>
                </a:solidFill>
                <a:latin typeface="Arial"/>
                <a:cs typeface="Arial"/>
              </a:rPr>
              <a:t>Reduce</a:t>
            </a:r>
            <a:r>
              <a:rPr sz="2350" b="1" spc="130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60" dirty="0">
                <a:solidFill>
                  <a:srgbClr val="F4F9F9"/>
                </a:solidFill>
                <a:latin typeface="Arial"/>
                <a:cs typeface="Arial"/>
              </a:rPr>
              <a:t>Delivery</a:t>
            </a:r>
            <a:r>
              <a:rPr sz="2350" b="1" spc="180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70" dirty="0">
                <a:solidFill>
                  <a:srgbClr val="F4F9F9"/>
                </a:solidFill>
                <a:latin typeface="Arial"/>
                <a:cs typeface="Arial"/>
              </a:rPr>
              <a:t>Delays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9290" y="6364758"/>
            <a:ext cx="4796155" cy="34925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45" dirty="0">
                <a:solidFill>
                  <a:srgbClr val="C3D1E2"/>
                </a:solidFill>
                <a:latin typeface="Arial"/>
                <a:cs typeface="Arial"/>
              </a:rPr>
              <a:t>Improve</a:t>
            </a:r>
            <a:r>
              <a:rPr sz="2000" spc="8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C3D1E2"/>
                </a:solidFill>
                <a:latin typeface="Arial"/>
                <a:cs typeface="Arial"/>
              </a:rPr>
              <a:t>logistics</a:t>
            </a:r>
            <a:r>
              <a:rPr sz="2000" spc="9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SLA</a:t>
            </a:r>
            <a:r>
              <a:rPr sz="2000" spc="8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to</a:t>
            </a:r>
            <a:r>
              <a:rPr sz="2000" spc="31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keep</a:t>
            </a:r>
            <a:r>
              <a:rPr sz="2000" spc="8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fulfillment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8838" y="6727007"/>
            <a:ext cx="4396740" cy="349250"/>
          </a:xfrm>
          <a:custGeom>
            <a:avLst/>
            <a:gdLst/>
            <a:ahLst/>
            <a:cxnLst/>
            <a:rect l="l" t="t" r="r" b="b"/>
            <a:pathLst>
              <a:path w="4396740" h="349250">
                <a:moveTo>
                  <a:pt x="4396520" y="349163"/>
                </a:moveTo>
                <a:lnTo>
                  <a:pt x="0" y="349163"/>
                </a:lnTo>
                <a:lnTo>
                  <a:pt x="0" y="0"/>
                </a:lnTo>
                <a:lnTo>
                  <a:pt x="4396520" y="0"/>
                </a:lnTo>
                <a:lnTo>
                  <a:pt x="4396520" y="349163"/>
                </a:lnTo>
                <a:close/>
              </a:path>
            </a:pathLst>
          </a:custGeom>
          <a:solidFill>
            <a:srgbClr val="1C26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16142" y="6724431"/>
            <a:ext cx="444944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under</a:t>
            </a:r>
            <a:r>
              <a:rPr sz="2000" spc="38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5</a:t>
            </a:r>
            <a:r>
              <a:rPr sz="2000" spc="32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days,</a:t>
            </a:r>
            <a:r>
              <a:rPr sz="2000" spc="32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minimizing</a:t>
            </a:r>
            <a:r>
              <a:rPr sz="2000" spc="36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return</a:t>
            </a:r>
            <a:r>
              <a:rPr sz="2000" spc="10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rates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28131" y="7073506"/>
            <a:ext cx="2579370" cy="349250"/>
          </a:xfrm>
          <a:custGeom>
            <a:avLst/>
            <a:gdLst/>
            <a:ahLst/>
            <a:cxnLst/>
            <a:rect l="l" t="t" r="r" b="b"/>
            <a:pathLst>
              <a:path w="2579370" h="349250">
                <a:moveTo>
                  <a:pt x="2578838" y="349163"/>
                </a:moveTo>
                <a:lnTo>
                  <a:pt x="0" y="349163"/>
                </a:lnTo>
                <a:lnTo>
                  <a:pt x="0" y="0"/>
                </a:lnTo>
                <a:lnTo>
                  <a:pt x="2578838" y="0"/>
                </a:lnTo>
                <a:lnTo>
                  <a:pt x="2578838" y="349163"/>
                </a:lnTo>
                <a:close/>
              </a:path>
            </a:pathLst>
          </a:custGeom>
          <a:solidFill>
            <a:srgbClr val="1C26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15434" y="7070930"/>
            <a:ext cx="263588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and</a:t>
            </a:r>
            <a:r>
              <a:rPr sz="2000" spc="26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processing</a:t>
            </a:r>
            <a:r>
              <a:rPr sz="2000" spc="-15" dirty="0">
                <a:solidFill>
                  <a:srgbClr val="C3D1E2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costs.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00190" y="5806754"/>
            <a:ext cx="4261485" cy="43434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sz="2350" b="1" spc="55" dirty="0">
                <a:solidFill>
                  <a:srgbClr val="F4F9F9"/>
                </a:solidFill>
                <a:latin typeface="Arial"/>
                <a:cs typeface="Arial"/>
              </a:rPr>
              <a:t>3.</a:t>
            </a:r>
            <a:r>
              <a:rPr sz="2350" b="1" spc="215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105" dirty="0">
                <a:solidFill>
                  <a:srgbClr val="F4F9F9"/>
                </a:solidFill>
                <a:latin typeface="Arial"/>
                <a:cs typeface="Arial"/>
              </a:rPr>
              <a:t>Target</a:t>
            </a:r>
            <a:r>
              <a:rPr sz="2350" b="1" spc="35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50" dirty="0">
                <a:solidFill>
                  <a:srgbClr val="F4F9F9"/>
                </a:solidFill>
                <a:latin typeface="Arial"/>
                <a:cs typeface="Arial"/>
              </a:rPr>
              <a:t>Premium</a:t>
            </a:r>
            <a:r>
              <a:rPr sz="2350" b="1" spc="160" dirty="0">
                <a:solidFill>
                  <a:srgbClr val="F4F9F9"/>
                </a:solidFill>
                <a:latin typeface="Arial"/>
                <a:cs typeface="Arial"/>
              </a:rPr>
              <a:t> </a:t>
            </a:r>
            <a:r>
              <a:rPr sz="2350" b="1" spc="85" dirty="0">
                <a:solidFill>
                  <a:srgbClr val="F4F9F9"/>
                </a:solidFill>
                <a:latin typeface="Arial"/>
                <a:cs typeface="Arial"/>
              </a:rPr>
              <a:t>Segment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98601" y="6364758"/>
            <a:ext cx="4522470" cy="34925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Focus</a:t>
            </a:r>
            <a:r>
              <a:rPr sz="2000" spc="15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personalized</a:t>
            </a:r>
            <a:r>
              <a:rPr sz="2000" spc="34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C3D1E2"/>
                </a:solidFill>
                <a:latin typeface="Arial"/>
                <a:cs typeface="Arial"/>
              </a:rPr>
              <a:t>loyalty</a:t>
            </a:r>
            <a:r>
              <a:rPr sz="2000" spc="32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campaigns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03264" y="6719131"/>
            <a:ext cx="4363720" cy="34925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85" dirty="0">
                <a:solidFill>
                  <a:srgbClr val="C3D1E2"/>
                </a:solidFill>
                <a:latin typeface="Arial"/>
                <a:cs typeface="Arial"/>
              </a:rPr>
              <a:t>on</a:t>
            </a:r>
            <a:r>
              <a:rPr sz="2000" spc="-6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the</a:t>
            </a:r>
            <a:r>
              <a:rPr sz="2000" spc="114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110" dirty="0">
                <a:solidFill>
                  <a:srgbClr val="C3D1E2"/>
                </a:solidFill>
                <a:latin typeface="Arial"/>
                <a:cs typeface="Arial"/>
              </a:rPr>
              <a:t>30-</a:t>
            </a:r>
            <a:r>
              <a:rPr sz="2000" spc="130" dirty="0">
                <a:solidFill>
                  <a:srgbClr val="C3D1E2"/>
                </a:solidFill>
                <a:latin typeface="Arial"/>
                <a:cs typeface="Arial"/>
              </a:rPr>
              <a:t>45</a:t>
            </a:r>
            <a:r>
              <a:rPr sz="2000" spc="24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age</a:t>
            </a:r>
            <a:r>
              <a:rPr sz="2000" spc="125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Premium</a:t>
            </a:r>
            <a:r>
              <a:rPr sz="2000" spc="25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3D1E2"/>
                </a:solidFill>
                <a:latin typeface="Arial"/>
                <a:cs typeface="Arial"/>
              </a:rPr>
              <a:t>customer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01472" y="7073506"/>
            <a:ext cx="2922905" cy="349250"/>
          </a:xfrm>
          <a:prstGeom prst="rect">
            <a:avLst/>
          </a:prstGeom>
          <a:solidFill>
            <a:srgbClr val="1C263A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60" dirty="0">
                <a:solidFill>
                  <a:srgbClr val="C3D1E2"/>
                </a:solidFill>
                <a:latin typeface="Arial"/>
                <a:cs typeface="Arial"/>
              </a:rPr>
              <a:t>cohort</a:t>
            </a:r>
            <a:r>
              <a:rPr sz="2000" spc="17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C3D1E2"/>
                </a:solidFill>
                <a:latin typeface="Arial"/>
                <a:cs typeface="Arial"/>
              </a:rPr>
              <a:t>to</a:t>
            </a:r>
            <a:r>
              <a:rPr sz="2000" spc="25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3D1E2"/>
                </a:solidFill>
                <a:latin typeface="Arial"/>
                <a:cs typeface="Arial"/>
              </a:rPr>
              <a:t>maximize</a:t>
            </a:r>
            <a:r>
              <a:rPr sz="2000" spc="330" dirty="0">
                <a:solidFill>
                  <a:srgbClr val="C3D1E2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C3D1E2"/>
                </a:solidFill>
                <a:latin typeface="Arial"/>
                <a:cs typeface="Arial"/>
              </a:rPr>
              <a:t>AOV.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B31DBC-FA3A-DB99-FE6F-6075C1A1476B}"/>
              </a:ext>
            </a:extLst>
          </p:cNvPr>
          <p:cNvSpPr txBox="1"/>
          <p:nvPr/>
        </p:nvSpPr>
        <p:spPr>
          <a:xfrm>
            <a:off x="5251450" y="2606675"/>
            <a:ext cx="8686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0" dirty="0">
                <a:latin typeface="Aldhabi" panose="01000000000000000000" pitchFamily="2" charset="-78"/>
                <a:cs typeface="Aldhabi" panose="01000000000000000000" pitchFamily="2" charset="-78"/>
              </a:rPr>
              <a:t>THANK YOU</a:t>
            </a:r>
            <a:endParaRPr lang="en-IN" sz="160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8E834-F32D-3DC4-0335-769F037A0D15}"/>
              </a:ext>
            </a:extLst>
          </p:cNvPr>
          <p:cNvSpPr txBox="1"/>
          <p:nvPr/>
        </p:nvSpPr>
        <p:spPr>
          <a:xfrm>
            <a:off x="5937250" y="26135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2D050"/>
                </a:solidFill>
              </a:rPr>
              <a:t>PROJECT PRESENTATION CONCLUSION</a:t>
            </a:r>
            <a:endParaRPr lang="en-IN" sz="2400" dirty="0">
              <a:solidFill>
                <a:srgbClr val="92D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C50F2-C182-9658-BA82-E261100FC3FF}"/>
              </a:ext>
            </a:extLst>
          </p:cNvPr>
          <p:cNvSpPr txBox="1"/>
          <p:nvPr/>
        </p:nvSpPr>
        <p:spPr>
          <a:xfrm>
            <a:off x="5784850" y="4892675"/>
            <a:ext cx="746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masis MT Pro" panose="02040504050005020304" pitchFamily="18" charset="0"/>
              </a:rPr>
              <a:t>I sincerely appreciate your time, valuable guidance, and academic mentorship throughout this data analysis project. I look forward to your valuable feedback and recommendations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72BBE3-66CC-812A-173A-234848CD0656}"/>
              </a:ext>
            </a:extLst>
          </p:cNvPr>
          <p:cNvCxnSpPr/>
          <p:nvPr/>
        </p:nvCxnSpPr>
        <p:spPr>
          <a:xfrm>
            <a:off x="7613650" y="7407275"/>
            <a:ext cx="4191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105253-110B-3FA6-C068-1FB968E3BC7C}"/>
              </a:ext>
            </a:extLst>
          </p:cNvPr>
          <p:cNvSpPr txBox="1"/>
          <p:nvPr/>
        </p:nvSpPr>
        <p:spPr>
          <a:xfrm>
            <a:off x="1289050" y="8507862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PRESENTER</a:t>
            </a:r>
            <a:endParaRPr lang="en-IN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4F8BE-ADF8-729C-4467-0C1ED915A2F0}"/>
              </a:ext>
            </a:extLst>
          </p:cNvPr>
          <p:cNvSpPr txBox="1"/>
          <p:nvPr/>
        </p:nvSpPr>
        <p:spPr>
          <a:xfrm>
            <a:off x="1403350" y="8956419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Abhinab </a:t>
            </a:r>
            <a:r>
              <a:rPr lang="en-US" sz="2000" b="1" dirty="0" err="1"/>
              <a:t>kalita</a:t>
            </a:r>
            <a:endParaRPr lang="en-IN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D8D67D-9A3B-470F-FC00-B7223BF838B4}"/>
              </a:ext>
            </a:extLst>
          </p:cNvPr>
          <p:cNvSpPr txBox="1"/>
          <p:nvPr/>
        </p:nvSpPr>
        <p:spPr>
          <a:xfrm>
            <a:off x="15462250" y="10226675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>
                    <a:lumMod val="65000"/>
                  </a:schemeClr>
                </a:solidFill>
              </a:rPr>
              <a:t>NextHikes</a:t>
            </a:r>
            <a:r>
              <a:rPr lang="en-US" sz="2000" b="1" dirty="0">
                <a:solidFill>
                  <a:schemeClr val="bg1">
                    <a:lumMod val="65000"/>
                  </a:schemeClr>
                </a:solidFill>
              </a:rPr>
              <a:t> IT Solutions</a:t>
            </a:r>
            <a:endParaRPr lang="en-IN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310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1164</Words>
  <Application>Microsoft Office PowerPoint</Application>
  <PresentationFormat>Custom</PresentationFormat>
  <Paragraphs>277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Aldhabi</vt:lpstr>
      <vt:lpstr>Amasis MT Pro</vt:lpstr>
      <vt:lpstr>Arial</vt:lpstr>
      <vt:lpstr>Calibri</vt:lpstr>
      <vt:lpstr>Courier New</vt:lpstr>
      <vt:lpstr>Times New Roman</vt:lpstr>
      <vt:lpstr>Office Theme</vt:lpstr>
      <vt:lpstr>PowerPoint Presentation</vt:lpstr>
      <vt:lpstr>Executive Agenda</vt:lpstr>
      <vt:lpstr>Numerical Summary Statistics</vt:lpstr>
      <vt:lpstr>Categorical Feature Breakdown</vt:lpstr>
      <vt:lpstr>Core Demographic Signals Top attributes defining overall transaction volume</vt:lpstr>
      <vt:lpstr>IQR Outlier Analysis</vt:lpstr>
      <vt:lpstr>Z-Score Outlier Identification Filtering extreme transactions  where Z-Score &gt; 3.0</vt:lpstr>
      <vt:lpstr>High vs. Low Price Outliers</vt:lpstr>
      <vt:lpstr>PowerPoint Presentation</vt:lpstr>
      <vt:lpstr>Pearson Correlation Matrix</vt:lpstr>
      <vt:lpstr>Multicollinearity &amp; Redundancy</vt:lpstr>
      <vt:lpstr>Product Category x Discount x Revenue</vt:lpstr>
      <vt:lpstr>Customer Segment x Age x Spending</vt:lpstr>
      <vt:lpstr>Skewness &amp; Kurtosis Interpretation</vt:lpstr>
      <vt:lpstr>Key Statistical Takeaways</vt:lpstr>
      <vt:lpstr>Strategic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Pranab Jyoti Kalita</cp:lastModifiedBy>
  <cp:revision>1</cp:revision>
  <dcterms:created xsi:type="dcterms:W3CDTF">2026-09-19T10:14:20Z</dcterms:created>
  <dcterms:modified xsi:type="dcterms:W3CDTF">2026-09-19T10:33:19Z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2026-09-19T00:00:00Z</vt:filetime>
  </property>
  <property fmtid="{D5CDD505-2E9C-101B-9397-08002B2CF9AE}" pid="3" name="LastSaved">
    <vt:filetime>2026-09-19T00:00:00Z</vt:filetime>
  </property>
</Properties>
</file>